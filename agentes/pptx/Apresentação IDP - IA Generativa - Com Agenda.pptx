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86" r:id="rId3"/>
    <p:sldId id="257" r:id="rId4"/>
    <p:sldId id="258" r:id="rId5"/>
    <p:sldId id="259" r:id="rId6"/>
    <p:sldId id="277" r:id="rId7"/>
    <p:sldId id="260" r:id="rId8"/>
    <p:sldId id="278" r:id="rId9"/>
    <p:sldId id="262" r:id="rId10"/>
    <p:sldId id="263" r:id="rId11"/>
    <p:sldId id="264" r:id="rId12"/>
    <p:sldId id="266" r:id="rId13"/>
    <p:sldId id="279" r:id="rId14"/>
    <p:sldId id="267" r:id="rId15"/>
    <p:sldId id="268" r:id="rId16"/>
    <p:sldId id="269" r:id="rId17"/>
    <p:sldId id="283" r:id="rId18"/>
    <p:sldId id="270" r:id="rId19"/>
    <p:sldId id="265" r:id="rId20"/>
    <p:sldId id="271" r:id="rId21"/>
    <p:sldId id="272" r:id="rId22"/>
    <p:sldId id="273" r:id="rId23"/>
    <p:sldId id="284" r:id="rId24"/>
    <p:sldId id="285" r:id="rId25"/>
    <p:sldId id="274" r:id="rId26"/>
    <p:sldId id="275" r:id="rId27"/>
    <p:sldId id="276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487" autoAdjust="0"/>
  </p:normalViewPr>
  <p:slideViewPr>
    <p:cSldViewPr snapToGrid="0" snapToObjects="1">
      <p:cViewPr varScale="1">
        <p:scale>
          <a:sx n="109" d="100"/>
          <a:sy n="109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6743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DB49E-E098-D58A-99CB-FD0385BD0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08CEA5-F490-145C-7C84-D949E7730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821993-8888-8883-78D9-2C6F48300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9846C-2B22-9BC0-34F7-BF0815DDF7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294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EBA54-619A-1AE2-BEDB-EA4607964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B594F9-5278-1787-A58A-EF6CC3C086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FDCC26-6F7C-73BC-EAFB-A2A8805EE9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8A5C3-C9D3-CC7E-A8DB-AA3DF93A2B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8842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9ED7F-9389-CD67-E25B-AE04F18EA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9CAC1E-F1DF-57DF-4FA4-4C8CACE68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5CDFD3-715F-0B93-71E3-36CCA1C44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48355-09BF-153C-A3AF-AE7E42FA74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6990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542FF-4B6C-3970-0666-D55BCAA4D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30E3AA-3DE4-AFDF-F9BF-5669CFAE5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B09C05-3423-C22C-3397-6A1C4485B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737BC-0418-0BA3-A670-06C945C94E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6998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A1751-2538-A005-F03E-73B6D8BC1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2C96F7-D3F4-4391-9261-E5F57055B2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FE4997-2E41-3A8B-4569-D29445F8E6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095A3-FA8A-3B8E-B420-22D5E9233C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530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87C45-63E6-E6D0-18E1-734B836F3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92D0A2-6D77-6F8A-A710-98422111A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A9BB16-57BC-938D-B1F7-DF45C9621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887FC-6205-603B-C411-4061E510B7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1732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64008" cy="2377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Consultor Inteligente de Sistemas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7FB3FF"/>
                </a:solidFill>
              </a:rPr>
              <a:t>Pipeline RAG Multi-Agente para Transformação Digital na SECOM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ADCFC"/>
                </a:solidFill>
              </a:rPr>
              <a:t>IDP |  </a:t>
            </a:r>
            <a:r>
              <a:rPr lang="en-US" sz="1200" dirty="0" err="1">
                <a:solidFill>
                  <a:srgbClr val="CADCFC"/>
                </a:solidFill>
              </a:rPr>
              <a:t>Inteligência</a:t>
            </a:r>
            <a:r>
              <a:rPr lang="en-US" sz="1200" dirty="0">
                <a:solidFill>
                  <a:srgbClr val="CADCFC"/>
                </a:solidFill>
              </a:rPr>
              <a:t> </a:t>
            </a:r>
            <a:r>
              <a:rPr lang="en-US" sz="1200" dirty="0" err="1">
                <a:solidFill>
                  <a:srgbClr val="CADCFC"/>
                </a:solidFill>
              </a:rPr>
              <a:t>Generativa</a:t>
            </a:r>
            <a:r>
              <a:rPr lang="en-US" sz="1200" dirty="0">
                <a:solidFill>
                  <a:srgbClr val="CADCFC"/>
                </a:solidFill>
              </a:rPr>
              <a:t> •  Abril / 2026</a:t>
            </a:r>
          </a:p>
        </p:txBody>
      </p:sp>
      <p:sp>
        <p:nvSpPr>
          <p:cNvPr id="7" name="Text 5"/>
          <p:cNvSpPr/>
          <p:nvPr/>
        </p:nvSpPr>
        <p:spPr>
          <a:xfrm>
            <a:off x="68580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Giovanni  Brigido Bezerra Cardoso</a:t>
            </a:r>
          </a:p>
          <a:p>
            <a:r>
              <a:rPr lang="en-US" sz="1100" dirty="0">
                <a:solidFill>
                  <a:srgbClr val="64748B"/>
                </a:solidFill>
              </a:rPr>
              <a:t>Paulo Pita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HeaderTitle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200" b="1" dirty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100" name="ColLabel"/>
          <p:cNvSpPr/>
          <p:nvPr/>
        </p:nvSpPr>
        <p:spPr>
          <a:xfrm>
            <a:off x="274320" y="870000"/>
            <a:ext cx="4020000" cy="360000"/>
          </a:xfrm>
          <a:prstGeom prst="rect">
            <a:avLst/>
          </a:prstGeom>
          <a:noFill/>
          <a:ln/>
        </p:spPr>
        <p:txBody>
          <a:bodyPr wrap="square" lIns="91440" tIns="45720" rIns="0" bIns="0" rtlCol="0" anchor="ctr"/>
          <a:lstStyle/>
          <a:p>
            <a:pPr marL="0" indent="0">
              <a:buNone/>
            </a:pPr>
            <a:r>
              <a:rPr lang="pt-BR" sz="1100" b="1" dirty="0">
                <a:solidFill>
                  <a:srgbClr val="3B82F6"/>
                </a:solidFill>
              </a:rPr>
              <a:t>CONTEUDO</a:t>
            </a:r>
          </a:p>
        </p:txBody>
      </p:sp>
      <p:sp>
        <p:nvSpPr>
          <p:cNvPr id="10" name="Num1"/>
          <p:cNvSpPr/>
          <p:nvPr/>
        </p:nvSpPr>
        <p:spPr>
          <a:xfrm>
            <a:off x="274320" y="1260000"/>
            <a:ext cx="457200" cy="457200"/>
          </a:xfrm>
          <a:prstGeom prst="ellipse">
            <a:avLst/>
          </a:prstGeom>
          <a:solidFill>
            <a:srgbClr val="1A2B5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Item1"/>
          <p:cNvSpPr/>
          <p:nvPr/>
        </p:nvSpPr>
        <p:spPr>
          <a:xfrm>
            <a:off x="822960" y="1240000"/>
            <a:ext cx="33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dirty="0">
                <a:solidFill>
                  <a:srgbClr val="1A2B5F"/>
                </a:solidFill>
              </a:rPr>
              <a:t>Introdução</a:t>
            </a:r>
          </a:p>
        </p:txBody>
      </p:sp>
      <p:sp>
        <p:nvSpPr>
          <p:cNvPr id="4" name="Item1Sub"/>
          <p:cNvSpPr/>
          <p:nvPr/>
        </p:nvSpPr>
        <p:spPr>
          <a:xfrm>
            <a:off x="822960" y="1650000"/>
            <a:ext cx="338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dirty="0">
                <a:solidFill>
                  <a:srgbClr val="475569"/>
                </a:solidFill>
              </a:rPr>
              <a:t>Contextualizacao, motivacao e objetivos</a:t>
            </a:r>
          </a:p>
        </p:txBody>
      </p:sp>
      <p:sp>
        <p:nvSpPr>
          <p:cNvPr id="5" name="Div1"/>
          <p:cNvSpPr/>
          <p:nvPr/>
        </p:nvSpPr>
        <p:spPr>
          <a:xfrm>
            <a:off x="274320" y="2040000"/>
            <a:ext cx="3928320" cy="180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Num2"/>
          <p:cNvSpPr/>
          <p:nvPr/>
        </p:nvSpPr>
        <p:spPr>
          <a:xfrm>
            <a:off x="274320" y="21000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Item2"/>
          <p:cNvSpPr/>
          <p:nvPr/>
        </p:nvSpPr>
        <p:spPr>
          <a:xfrm>
            <a:off x="822960" y="2080000"/>
            <a:ext cx="33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dirty="0">
                <a:solidFill>
                  <a:srgbClr val="1A2B5F"/>
                </a:solidFill>
              </a:rPr>
              <a:t>Fundamentação Teórica</a:t>
            </a:r>
          </a:p>
        </p:txBody>
      </p:sp>
      <p:sp>
        <p:nvSpPr>
          <p:cNvPr id="6" name="Item2Sub"/>
          <p:cNvSpPr/>
          <p:nvPr/>
        </p:nvSpPr>
        <p:spPr>
          <a:xfrm>
            <a:off x="822960" y="2490000"/>
            <a:ext cx="338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dirty="0">
                <a:solidFill>
                  <a:srgbClr val="475569"/>
                </a:solidFill>
              </a:rPr>
              <a:t>RAG, arquitetura multi-agente e tecnicas utilizadas</a:t>
            </a:r>
          </a:p>
        </p:txBody>
      </p:sp>
      <p:sp>
        <p:nvSpPr>
          <p:cNvPr id="7" name="Div2"/>
          <p:cNvSpPr/>
          <p:nvPr/>
        </p:nvSpPr>
        <p:spPr>
          <a:xfrm>
            <a:off x="274320" y="2880000"/>
            <a:ext cx="3928320" cy="180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Num3"/>
          <p:cNvSpPr/>
          <p:nvPr/>
        </p:nvSpPr>
        <p:spPr>
          <a:xfrm>
            <a:off x="274320" y="2940000"/>
            <a:ext cx="457200" cy="457200"/>
          </a:xfrm>
          <a:prstGeom prst="ellipse">
            <a:avLst/>
          </a:prstGeom>
          <a:solidFill>
            <a:srgbClr val="1A2B5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1" name="Item3"/>
          <p:cNvSpPr/>
          <p:nvPr/>
        </p:nvSpPr>
        <p:spPr>
          <a:xfrm>
            <a:off x="822960" y="2920000"/>
            <a:ext cx="33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dirty="0">
                <a:solidFill>
                  <a:srgbClr val="1A2B5F"/>
                </a:solidFill>
              </a:rPr>
              <a:t>Configurações</a:t>
            </a:r>
          </a:p>
        </p:txBody>
      </p:sp>
      <p:sp>
        <p:nvSpPr>
          <p:cNvPr id="8" name="Item3Sub"/>
          <p:cNvSpPr/>
          <p:nvPr/>
        </p:nvSpPr>
        <p:spPr>
          <a:xfrm>
            <a:off x="822960" y="3330000"/>
            <a:ext cx="338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dirty="0">
                <a:solidFill>
                  <a:srgbClr val="475569"/>
                </a:solidFill>
              </a:rPr>
              <a:t>Ollama, OpenRouter, Chunking, Indexacao e Retrieval</a:t>
            </a:r>
          </a:p>
        </p:txBody>
      </p:sp>
      <p:sp>
        <p:nvSpPr>
          <p:cNvPr id="200" name="ColLabel2"/>
          <p:cNvSpPr/>
          <p:nvPr/>
        </p:nvSpPr>
        <p:spPr>
          <a:xfrm>
            <a:off x="4750000" y="870000"/>
            <a:ext cx="4020000" cy="360000"/>
          </a:xfrm>
          <a:prstGeom prst="rect">
            <a:avLst/>
          </a:prstGeom>
          <a:noFill/>
          <a:ln/>
        </p:spPr>
        <p:txBody>
          <a:bodyPr wrap="square" lIns="91440" tIns="45720" rIns="0" bIns="0" rtlCol="0" anchor="ctr"/>
          <a:lstStyle/>
          <a:p>
            <a:pPr marL="0" indent="0">
              <a:buNone/>
            </a:pPr>
            <a:r>
              <a:rPr lang="pt-BR" sz="1100" b="1" dirty="0">
                <a:solidFill>
                  <a:srgbClr val="3B82F6"/>
                </a:solidFill>
              </a:rPr>
              <a:t>RESULTADOS</a:t>
            </a:r>
          </a:p>
        </p:txBody>
      </p:sp>
      <p:sp>
        <p:nvSpPr>
          <p:cNvPr id="40" name="Num4"/>
          <p:cNvSpPr/>
          <p:nvPr/>
        </p:nvSpPr>
        <p:spPr>
          <a:xfrm>
            <a:off x="4750000" y="12600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1" name="Item4"/>
          <p:cNvSpPr/>
          <p:nvPr/>
        </p:nvSpPr>
        <p:spPr>
          <a:xfrm>
            <a:off x="5298640" y="1240000"/>
            <a:ext cx="34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dirty="0">
                <a:solidFill>
                  <a:srgbClr val="1A2B5F"/>
                </a:solidFill>
              </a:rPr>
              <a:t>Pipelines</a:t>
            </a:r>
          </a:p>
        </p:txBody>
      </p:sp>
      <p:sp>
        <p:nvSpPr>
          <p:cNvPr id="9" name="Item4Sub"/>
          <p:cNvSpPr/>
          <p:nvPr/>
        </p:nvSpPr>
        <p:spPr>
          <a:xfrm>
            <a:off x="5298640" y="1650000"/>
            <a:ext cx="348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dirty="0">
                <a:solidFill>
                  <a:srgbClr val="475569"/>
                </a:solidFill>
              </a:rPr>
              <a:t>MidiaCad, PL 2338/2023 e Consultor de Qualidade</a:t>
            </a:r>
          </a:p>
        </p:txBody>
      </p:sp>
      <p:sp>
        <p:nvSpPr>
          <p:cNvPr id="12" name="DivR1"/>
          <p:cNvSpPr/>
          <p:nvPr/>
        </p:nvSpPr>
        <p:spPr>
          <a:xfrm>
            <a:off x="4750000" y="2040000"/>
            <a:ext cx="4050000" cy="180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" name="Num5"/>
          <p:cNvSpPr/>
          <p:nvPr/>
        </p:nvSpPr>
        <p:spPr>
          <a:xfrm>
            <a:off x="4750000" y="2100000"/>
            <a:ext cx="457200" cy="457200"/>
          </a:xfrm>
          <a:prstGeom prst="ellipse">
            <a:avLst/>
          </a:prstGeom>
          <a:solidFill>
            <a:srgbClr val="1A2B5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1" name="Item5"/>
          <p:cNvSpPr/>
          <p:nvPr/>
        </p:nvSpPr>
        <p:spPr>
          <a:xfrm>
            <a:off x="5298640" y="2080000"/>
            <a:ext cx="34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dirty="0">
                <a:solidFill>
                  <a:srgbClr val="1A2B5F"/>
                </a:solidFill>
              </a:rPr>
              <a:t>Experimentos</a:t>
            </a:r>
          </a:p>
        </p:txBody>
      </p:sp>
      <p:sp>
        <p:nvSpPr>
          <p:cNvPr id="13" name="Item5Sub"/>
          <p:cNvSpPr/>
          <p:nvPr/>
        </p:nvSpPr>
        <p:spPr>
          <a:xfrm>
            <a:off x="5298640" y="2490000"/>
            <a:ext cx="348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dirty="0">
                <a:solidFill>
                  <a:srgbClr val="475569"/>
                </a:solidFill>
              </a:rPr>
              <a:t>Perguntas teste</a:t>
            </a:r>
          </a:p>
        </p:txBody>
      </p:sp>
      <p:sp>
        <p:nvSpPr>
          <p:cNvPr id="14" name="DivR2"/>
          <p:cNvSpPr/>
          <p:nvPr/>
        </p:nvSpPr>
        <p:spPr>
          <a:xfrm>
            <a:off x="4750000" y="2880000"/>
            <a:ext cx="4050000" cy="180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Num6"/>
          <p:cNvSpPr/>
          <p:nvPr/>
        </p:nvSpPr>
        <p:spPr>
          <a:xfrm>
            <a:off x="4750000" y="29400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1" name="Item6"/>
          <p:cNvSpPr/>
          <p:nvPr/>
        </p:nvSpPr>
        <p:spPr>
          <a:xfrm>
            <a:off x="5298640" y="2920000"/>
            <a:ext cx="34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dirty="0">
                <a:solidFill>
                  <a:srgbClr val="1A2B5F"/>
                </a:solidFill>
              </a:rPr>
              <a:t>Riscos, Limitações e Conclusão</a:t>
            </a:r>
          </a:p>
        </p:txBody>
      </p:sp>
      <p:sp>
        <p:nvSpPr>
          <p:cNvPr id="15" name="Item6Sub"/>
          <p:cNvSpPr/>
          <p:nvPr/>
        </p:nvSpPr>
        <p:spPr>
          <a:xfrm>
            <a:off x="5298640" y="3330000"/>
            <a:ext cx="348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dirty="0">
                <a:solidFill>
                  <a:srgbClr val="475569"/>
                </a:solidFill>
              </a:rPr>
              <a:t>Alucinacoes, hardware, contribuições e trabalhos futuros</a:t>
            </a:r>
          </a:p>
        </p:txBody>
      </p:sp>
      <p:sp>
        <p:nvSpPr>
          <p:cNvPr id="16" name="VertDiv"/>
          <p:cNvSpPr/>
          <p:nvPr/>
        </p:nvSpPr>
        <p:spPr>
          <a:xfrm>
            <a:off x="4572000" y="870000"/>
            <a:ext cx="18000" cy="28800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" name="FooterBar"/>
          <p:cNvSpPr/>
          <p:nvPr/>
        </p:nvSpPr>
        <p:spPr>
          <a:xfrm>
            <a:off x="0" y="4900000"/>
            <a:ext cx="9144000" cy="257040"/>
          </a:xfrm>
          <a:prstGeom prst="rect">
            <a:avLst/>
          </a:prstGeom>
          <a:solidFill>
            <a:srgbClr val="1A2B5F"/>
          </a:solidFill>
          <a:ln>
            <a:noFill/>
          </a:ln>
        </p:spPr>
        <p:txBody>
          <a:bodyPr wrap="square" lIns="91440" tIns="45720" rIns="0" bIns="0" rtlCol="0" anchor="ctr"/>
          <a:lstStyle/>
          <a:p>
            <a:pPr marL="0" indent="0">
              <a:buNone/>
            </a:pPr>
            <a:r>
              <a:rPr lang="pt-BR" sz="900" dirty="0">
                <a:solidFill>
                  <a:srgbClr val="CADCFC"/>
                </a:solidFill>
              </a:rPr>
              <a:t>IDP  |  Inteligencia Generativa  -  Abril /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1. Introdução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73152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38912" y="1069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  Contextualização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43560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Na SECOM, dúvidas sobre sistemas internos são resolvidas com servidores mais experientes. A documentação técnica existe, mas não está acessível de forma direta ao usuário.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206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73152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919472" y="1069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  Motivação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9472" y="143560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Implantar transformação digital na DSIC/SECOM, reduzindo a dependência de consultas presenciais e a curva de aprendizado dos sistemas.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206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73152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38912" y="2990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  Objetivo Específico 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" y="335584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Reduzir formalidades na solicitação de auxílio no uso dos sistemas internos.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206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54880" y="2880360"/>
            <a:ext cx="73152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919472" y="2990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  Objetivo Específico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9472" y="335584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Prover celeridade no atendimento às dúvidas operacionais dos servidores.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 Fundamentação Teórica — Arquitetura Geral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2. </a:t>
            </a:r>
            <a:r>
              <a:rPr lang="en-US" sz="2200" b="1" dirty="0" err="1">
                <a:solidFill>
                  <a:srgbClr val="FFFFFF"/>
                </a:solidFill>
              </a:rPr>
              <a:t>Fundamentação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Teórica</a:t>
            </a:r>
            <a:r>
              <a:rPr lang="en-US" sz="2200" b="1" dirty="0">
                <a:solidFill>
                  <a:srgbClr val="FFFFFF"/>
                </a:solidFill>
              </a:rPr>
              <a:t>: Arquitetura Geral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65176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3B82F6"/>
            </a:solidFill>
            <a:prstDash val="solid"/>
          </a:ln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WSL (Windows)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1234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5176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3B82F6"/>
            </a:solidFill>
            <a:prstDash val="solid"/>
          </a:ln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200400" y="9601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Ollama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(Modelos Locais)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0" y="1234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651760" cy="1005840"/>
          </a:xfrm>
          <a:prstGeom prst="rect">
            <a:avLst/>
          </a:prstGeom>
          <a:solidFill>
            <a:srgbClr val="1A2B5F"/>
          </a:solidFill>
          <a:ln w="12700">
            <a:solidFill>
              <a:srgbClr val="3B82F6"/>
            </a:solidFill>
            <a:prstDash val="solid"/>
          </a:ln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126480" y="9601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Docker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(Dify · PostgreSQL · Text Embedding Interface – TEI </a:t>
            </a:r>
            <a:r>
              <a:rPr lang="en-US" sz="1200" b="1" dirty="0" err="1">
                <a:solidFill>
                  <a:srgbClr val="FFFFFF"/>
                </a:solidFill>
              </a:rPr>
              <a:t>Reranker</a:t>
            </a:r>
            <a:r>
              <a:rPr lang="en-US" sz="1200" b="1" dirty="0">
                <a:solidFill>
                  <a:srgbClr val="FFFFFF"/>
                </a:solidFill>
              </a:rPr>
              <a:t> · MCP)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F"/>
                </a:solidFill>
              </a:rPr>
              <a:t>Técnicas Utilizadas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2514600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RAG (Retrieval-Augmented Generation)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816352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Chunking com overlap de contexto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118104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Busca vetorial (Vector Search)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419856"/>
            <a:ext cx="4206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Reranking semântico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F"/>
                </a:solidFill>
              </a:rPr>
              <a:t>Trabalho Relacionado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2487168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892040" y="2578608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Laboratório de Construção de Agentes para Auditoria de TR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Pipeline multi-agente com Analista Técnico, Auditor de Risco, Consultor de Melhoria e Agente Carteiro. Envio de e-mail via MCP Server.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4">
            <a:extLst>
              <a:ext uri="{FF2B5EF4-FFF2-40B4-BE49-F238E27FC236}">
                <a16:creationId xmlns:a16="http://schemas.microsoft.com/office/drawing/2014/main" id="{EEB07434-B1CA-A3AB-2245-2F974CBE58F4}"/>
              </a:ext>
            </a:extLst>
          </p:cNvPr>
          <p:cNvSpPr/>
          <p:nvPr/>
        </p:nvSpPr>
        <p:spPr>
          <a:xfrm>
            <a:off x="204173" y="921895"/>
            <a:ext cx="5682343" cy="233656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 </a:t>
            </a:r>
            <a:r>
              <a:rPr lang="en-US" sz="2200" b="1" dirty="0" err="1">
                <a:solidFill>
                  <a:srgbClr val="FFFFFF"/>
                </a:solidFill>
              </a:rPr>
              <a:t>Configuração</a:t>
            </a:r>
            <a:r>
              <a:rPr lang="en-US" sz="2200" b="1" dirty="0">
                <a:solidFill>
                  <a:srgbClr val="FFFFFF"/>
                </a:solidFill>
              </a:rPr>
              <a:t>: Visão Geral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83656" y="330272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Ollama — 5 modelos locais no Dify</a:t>
            </a:r>
            <a:endParaRPr lang="en-US" sz="900" dirty="0"/>
          </a:p>
        </p:txBody>
      </p:sp>
      <p:pic>
        <p:nvPicPr>
          <p:cNvPr id="5" name="Image 0" descr="/home/claude/model_settings_oll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96808"/>
            <a:ext cx="5285377" cy="1973831"/>
          </a:xfrm>
          <a:prstGeom prst="rect">
            <a:avLst/>
          </a:prstGeom>
        </p:spPr>
      </p:pic>
      <p:sp>
        <p:nvSpPr>
          <p:cNvPr id="25" name="Shape 3">
            <a:extLst>
              <a:ext uri="{FF2B5EF4-FFF2-40B4-BE49-F238E27FC236}">
                <a16:creationId xmlns:a16="http://schemas.microsoft.com/office/drawing/2014/main" id="{76101BEB-9513-A880-CAC7-E2333B1297C4}"/>
              </a:ext>
            </a:extLst>
          </p:cNvPr>
          <p:cNvSpPr/>
          <p:nvPr/>
        </p:nvSpPr>
        <p:spPr>
          <a:xfrm>
            <a:off x="6059562" y="1049392"/>
            <a:ext cx="2933123" cy="917293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B007EE44-844D-ED6D-4177-380CB99A9779}"/>
              </a:ext>
            </a:extLst>
          </p:cNvPr>
          <p:cNvSpPr/>
          <p:nvPr/>
        </p:nvSpPr>
        <p:spPr>
          <a:xfrm>
            <a:off x="6059562" y="1049393"/>
            <a:ext cx="72874" cy="917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DB4F7C20-DB6E-FCBC-EB6B-09E5E2B78856}"/>
              </a:ext>
            </a:extLst>
          </p:cNvPr>
          <p:cNvSpPr/>
          <p:nvPr/>
        </p:nvSpPr>
        <p:spPr>
          <a:xfrm>
            <a:off x="6291942" y="1095113"/>
            <a:ext cx="260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A2B5F"/>
                </a:solidFill>
              </a:rPr>
              <a:t>Modelos</a:t>
            </a:r>
            <a:r>
              <a:rPr lang="en-US" sz="1200" b="1" dirty="0">
                <a:solidFill>
                  <a:srgbClr val="1A2B5F"/>
                </a:solidFill>
              </a:rPr>
              <a:t> </a:t>
            </a:r>
            <a:r>
              <a:rPr lang="en-US" sz="1200" b="1" dirty="0" err="1">
                <a:solidFill>
                  <a:srgbClr val="1A2B5F"/>
                </a:solidFill>
              </a:rPr>
              <a:t>Ollama</a:t>
            </a:r>
            <a:endParaRPr lang="en-US" sz="120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A4AE5F2B-6BCD-B45F-406F-F77EAA65B49E}"/>
              </a:ext>
            </a:extLst>
          </p:cNvPr>
          <p:cNvSpPr/>
          <p:nvPr/>
        </p:nvSpPr>
        <p:spPr>
          <a:xfrm>
            <a:off x="6291942" y="1351145"/>
            <a:ext cx="26093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000" dirty="0"/>
              <a:t>Executa modelos de IA localmente, sem depender de APIs externas. Modelos utilizados: llama3.2:3b e qwen3-embeddings:4b.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6B1D3E-4F90-1139-0BAA-921721B7C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80BE5B1-5B96-0FC9-B126-1984E1366854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pPr algn="just"/>
            <a:endParaRPr lang="pt-BR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FBD397-8F32-3277-0DB5-DD5C4930383E}"/>
              </a:ext>
            </a:extLst>
          </p:cNvPr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3.1. </a:t>
            </a:r>
            <a:r>
              <a:rPr lang="en-US" sz="2200" b="1" dirty="0" err="1">
                <a:solidFill>
                  <a:srgbClr val="FFFFFF"/>
                </a:solidFill>
              </a:rPr>
              <a:t>Configuração</a:t>
            </a:r>
            <a:r>
              <a:rPr lang="en-US" sz="2200" b="1" dirty="0">
                <a:solidFill>
                  <a:srgbClr val="FFFFFF"/>
                </a:solidFill>
              </a:rPr>
              <a:t>: </a:t>
            </a:r>
            <a:r>
              <a:rPr lang="en-US" sz="2200" b="1" dirty="0" err="1">
                <a:solidFill>
                  <a:srgbClr val="FFFFFF"/>
                </a:solidFill>
              </a:rPr>
              <a:t>Visão</a:t>
            </a:r>
            <a:r>
              <a:rPr lang="en-US" sz="2200" b="1" dirty="0">
                <a:solidFill>
                  <a:srgbClr val="FFFFFF"/>
                </a:solidFill>
              </a:rPr>
              <a:t> Geral</a:t>
            </a:r>
            <a:endParaRPr lang="en-US" sz="22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5DA769AC-C142-0090-DBD4-60E3F00070FF}"/>
              </a:ext>
            </a:extLst>
          </p:cNvPr>
          <p:cNvSpPr/>
          <p:nvPr/>
        </p:nvSpPr>
        <p:spPr>
          <a:xfrm>
            <a:off x="204173" y="924121"/>
            <a:ext cx="5682343" cy="13694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" name="Image 1" descr="/home/claude/model_settings_reranker.png">
            <a:extLst>
              <a:ext uri="{FF2B5EF4-FFF2-40B4-BE49-F238E27FC236}">
                <a16:creationId xmlns:a16="http://schemas.microsoft.com/office/drawing/2014/main" id="{B97BE7C1-4FD3-77CB-3306-EC8B3C1BB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46358"/>
            <a:ext cx="5406723" cy="1089988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269FB91B-CA91-8701-CD35-86DC612360D1}"/>
              </a:ext>
            </a:extLst>
          </p:cNvPr>
          <p:cNvSpPr/>
          <p:nvPr/>
        </p:nvSpPr>
        <p:spPr>
          <a:xfrm>
            <a:off x="2445657" y="3967919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Reranker BAAI/bge-reranker-v2-m3 (TEI)</a:t>
            </a:r>
            <a:endParaRPr lang="en-US" sz="9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16A8ED80-1A1B-ABFA-961D-FD8541D10A90}"/>
              </a:ext>
            </a:extLst>
          </p:cNvPr>
          <p:cNvSpPr/>
          <p:nvPr/>
        </p:nvSpPr>
        <p:spPr>
          <a:xfrm>
            <a:off x="217714" y="2696590"/>
            <a:ext cx="5682343" cy="191895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1" name="Image 2" descr="/home/claude/model_settings_open_router.png">
            <a:extLst>
              <a:ext uri="{FF2B5EF4-FFF2-40B4-BE49-F238E27FC236}">
                <a16:creationId xmlns:a16="http://schemas.microsoft.com/office/drawing/2014/main" id="{C48D167D-D5C7-9973-DB1E-F0B0898A1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39" y="2782824"/>
            <a:ext cx="5450613" cy="1674876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0D12E023-BD20-BB0E-1058-B2814C489B47}"/>
              </a:ext>
            </a:extLst>
          </p:cNvPr>
          <p:cNvSpPr/>
          <p:nvPr/>
        </p:nvSpPr>
        <p:spPr>
          <a:xfrm>
            <a:off x="1651801" y="463183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OpenRouter — 97 modelos disponíveis</a:t>
            </a:r>
            <a:endParaRPr lang="en-US" sz="9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DAF021FF-4997-59FD-B91E-D05B488FB839}"/>
              </a:ext>
            </a:extLst>
          </p:cNvPr>
          <p:cNvSpPr/>
          <p:nvPr/>
        </p:nvSpPr>
        <p:spPr>
          <a:xfrm>
            <a:off x="1687285" y="2321109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Reranker BAAI/bge-reranker-v2-m3 (TEI)</a:t>
            </a:r>
            <a:endParaRPr lang="en-US" sz="900" dirty="0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CA0A49B7-263E-B465-6E6E-A2022C1ABD1C}"/>
              </a:ext>
            </a:extLst>
          </p:cNvPr>
          <p:cNvSpPr/>
          <p:nvPr/>
        </p:nvSpPr>
        <p:spPr>
          <a:xfrm>
            <a:off x="6059562" y="1049393"/>
            <a:ext cx="2933123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B7F5B937-860E-CA0D-F49C-597589121227}"/>
              </a:ext>
            </a:extLst>
          </p:cNvPr>
          <p:cNvSpPr/>
          <p:nvPr/>
        </p:nvSpPr>
        <p:spPr>
          <a:xfrm>
            <a:off x="6059562" y="1049393"/>
            <a:ext cx="72874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5DEC4C2B-B9E8-2A1C-9AFD-73492DECBA10}"/>
              </a:ext>
            </a:extLst>
          </p:cNvPr>
          <p:cNvSpPr/>
          <p:nvPr/>
        </p:nvSpPr>
        <p:spPr>
          <a:xfrm>
            <a:off x="6291942" y="1095113"/>
            <a:ext cx="260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Modelo </a:t>
            </a:r>
            <a:r>
              <a:rPr lang="en-US" sz="1200" b="1" dirty="0" err="1">
                <a:solidFill>
                  <a:srgbClr val="1A2B5F"/>
                </a:solidFill>
              </a:rPr>
              <a:t>Reranker</a:t>
            </a:r>
            <a:endParaRPr lang="en-US" sz="12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AB8DCA49-4339-0BE5-CDC6-64BFEC1E58E8}"/>
              </a:ext>
            </a:extLst>
          </p:cNvPr>
          <p:cNvSpPr/>
          <p:nvPr/>
        </p:nvSpPr>
        <p:spPr>
          <a:xfrm>
            <a:off x="6291942" y="1351145"/>
            <a:ext cx="26093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000" dirty="0"/>
              <a:t>Reordena resultados de busca por relevância.</a:t>
            </a:r>
            <a:endParaRPr lang="en-US" sz="1000" dirty="0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D4E41960-87B6-57A9-6242-D2330B4488E2}"/>
              </a:ext>
            </a:extLst>
          </p:cNvPr>
          <p:cNvSpPr/>
          <p:nvPr/>
        </p:nvSpPr>
        <p:spPr>
          <a:xfrm>
            <a:off x="6059562" y="2737104"/>
            <a:ext cx="2933123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D0603542-8177-D0D8-72EA-9ACB7510881B}"/>
              </a:ext>
            </a:extLst>
          </p:cNvPr>
          <p:cNvSpPr/>
          <p:nvPr/>
        </p:nvSpPr>
        <p:spPr>
          <a:xfrm>
            <a:off x="6059562" y="2737104"/>
            <a:ext cx="72874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9657EC5A-1F76-78E9-2450-B71C3DBFDCF4}"/>
              </a:ext>
            </a:extLst>
          </p:cNvPr>
          <p:cNvSpPr/>
          <p:nvPr/>
        </p:nvSpPr>
        <p:spPr>
          <a:xfrm>
            <a:off x="6291942" y="2782824"/>
            <a:ext cx="260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A2B5F"/>
                </a:solidFill>
              </a:rPr>
              <a:t>Modelos</a:t>
            </a:r>
            <a:r>
              <a:rPr lang="en-US" sz="1200" b="1" dirty="0">
                <a:solidFill>
                  <a:srgbClr val="1A2B5F"/>
                </a:solidFill>
              </a:rPr>
              <a:t> </a:t>
            </a:r>
            <a:r>
              <a:rPr lang="en-US" sz="1200" b="1" dirty="0" err="1">
                <a:solidFill>
                  <a:srgbClr val="1A2B5F"/>
                </a:solidFill>
              </a:rPr>
              <a:t>OpenRouter</a:t>
            </a:r>
            <a:r>
              <a:rPr lang="en-US" sz="1200" b="1" dirty="0">
                <a:solidFill>
                  <a:srgbClr val="1A2B5F"/>
                </a:solidFill>
              </a:rPr>
              <a:t> </a:t>
            </a:r>
            <a:r>
              <a:rPr lang="en-US" sz="1200" b="1" dirty="0" err="1">
                <a:solidFill>
                  <a:srgbClr val="1A2B5F"/>
                </a:solidFill>
              </a:rPr>
              <a:t>Configurados</a:t>
            </a:r>
            <a:endParaRPr lang="en-US" sz="12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FA40B431-9D8F-003F-569E-E5F49A017DA4}"/>
              </a:ext>
            </a:extLst>
          </p:cNvPr>
          <p:cNvSpPr/>
          <p:nvPr/>
        </p:nvSpPr>
        <p:spPr>
          <a:xfrm>
            <a:off x="6291942" y="3038856"/>
            <a:ext cx="26093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000" dirty="0"/>
              <a:t>Roteador que dá acesso a múltiplos modelos de IA via uma única API.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94846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3.2. </a:t>
            </a:r>
            <a:r>
              <a:rPr lang="en-US" sz="2200" b="1" dirty="0" err="1">
                <a:solidFill>
                  <a:srgbClr val="FFFFFF"/>
                </a:solidFill>
              </a:rPr>
              <a:t>Configuração</a:t>
            </a:r>
            <a:r>
              <a:rPr lang="en-US" sz="2200" b="1" dirty="0">
                <a:solidFill>
                  <a:srgbClr val="FFFFFF"/>
                </a:solidFill>
              </a:rPr>
              <a:t>: </a:t>
            </a:r>
            <a:r>
              <a:rPr lang="en-US" sz="2200" b="1" dirty="0" err="1">
                <a:solidFill>
                  <a:srgbClr val="FFFFFF"/>
                </a:solidFill>
              </a:rPr>
              <a:t>Integração</a:t>
            </a:r>
            <a:r>
              <a:rPr lang="en-US" sz="2200" b="1" dirty="0">
                <a:solidFill>
                  <a:srgbClr val="FFFFFF"/>
                </a:solidFill>
              </a:rPr>
              <a:t> Ollama ↔ Dify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3891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4937760" y="1005840"/>
            <a:ext cx="3886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4937760" y="1005840"/>
            <a:ext cx="64008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5074920" y="1051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Modelo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74920" y="1307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llama3.2:3b — modelo LLM configurado como tipo Chat para uso nos nós do pipeline.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937760" y="1920240"/>
            <a:ext cx="3886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937760" y="1920240"/>
            <a:ext cx="64008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5074920" y="1965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Base URL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74920" y="22219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http://host.docker.internal:11434 — endereço de </a:t>
            </a:r>
            <a:r>
              <a:rPr lang="en-US" sz="1000" dirty="0" err="1">
                <a:solidFill>
                  <a:srgbClr val="1E293B"/>
                </a:solidFill>
              </a:rPr>
              <a:t>conexão</a:t>
            </a:r>
            <a:r>
              <a:rPr lang="en-US" sz="1000" dirty="0">
                <a:solidFill>
                  <a:srgbClr val="1E293B"/>
                </a:solidFill>
              </a:rPr>
              <a:t> entre o container Dify e o Ollama rodando no host.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937760" y="2834640"/>
            <a:ext cx="3886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4937760" y="2834640"/>
            <a:ext cx="64008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5074920" y="2880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Modo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74920" y="31363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Chat — compatível com prompts de sistema e passagem de variáveis de contexto.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937760" y="3749040"/>
            <a:ext cx="3886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4937760" y="3749040"/>
            <a:ext cx="64008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5074920" y="3794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Processamento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74920" y="40507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Todos os dados são processados localmente. Nenhuma requisição a serviços externos.</a:t>
            </a:r>
            <a:endParaRPr lang="en-US" sz="1000" dirty="0"/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3F51F1AE-D359-0811-8AF0-857308FDA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453" y="1307592"/>
            <a:ext cx="4139389" cy="30495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0F216D-4B5B-4169-3088-BE4C3DC29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28D0EFF-B337-E4A6-F868-C1B0775CA2AF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18D104F-0AEF-9FD2-A5CF-DF1D9DF31B55}"/>
              </a:ext>
            </a:extLst>
          </p:cNvPr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3.3. </a:t>
            </a:r>
            <a:r>
              <a:rPr lang="en-US" sz="2200" b="1" dirty="0" err="1">
                <a:solidFill>
                  <a:srgbClr val="FFFFFF"/>
                </a:solidFill>
              </a:rPr>
              <a:t>Configuração</a:t>
            </a:r>
            <a:r>
              <a:rPr lang="en-US" sz="2200" b="1" dirty="0">
                <a:solidFill>
                  <a:srgbClr val="FFFFFF"/>
                </a:solidFill>
              </a:rPr>
              <a:t>: </a:t>
            </a:r>
            <a:r>
              <a:rPr lang="en-US" sz="2200" b="1" dirty="0" err="1">
                <a:solidFill>
                  <a:srgbClr val="FFFFFF"/>
                </a:solidFill>
              </a:rPr>
              <a:t>Integração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OpenRouter</a:t>
            </a:r>
            <a:r>
              <a:rPr lang="en-US" sz="2200" b="1" dirty="0">
                <a:solidFill>
                  <a:srgbClr val="FFFFFF"/>
                </a:solidFill>
              </a:rPr>
              <a:t> ↔ Dify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3E191FA-F722-D5D4-39BD-C4754B986968}"/>
              </a:ext>
            </a:extLst>
          </p:cNvPr>
          <p:cNvSpPr/>
          <p:nvPr/>
        </p:nvSpPr>
        <p:spPr>
          <a:xfrm>
            <a:off x="274320" y="914400"/>
            <a:ext cx="43891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1CA4E9F1-5BFD-2090-838E-2A24E0403EC8}"/>
              </a:ext>
            </a:extLst>
          </p:cNvPr>
          <p:cNvSpPr/>
          <p:nvPr/>
        </p:nvSpPr>
        <p:spPr>
          <a:xfrm>
            <a:off x="4937760" y="2446020"/>
            <a:ext cx="3886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7A8CAED7-7AC4-0F69-4076-B39D3915DD0A}"/>
              </a:ext>
            </a:extLst>
          </p:cNvPr>
          <p:cNvSpPr/>
          <p:nvPr/>
        </p:nvSpPr>
        <p:spPr>
          <a:xfrm>
            <a:off x="4937760" y="2446020"/>
            <a:ext cx="64008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64A20A7-1AD4-1844-F8CF-C1BD226E9959}"/>
              </a:ext>
            </a:extLst>
          </p:cNvPr>
          <p:cNvSpPr/>
          <p:nvPr/>
        </p:nvSpPr>
        <p:spPr>
          <a:xfrm>
            <a:off x="5074920" y="24917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API Key</a:t>
            </a:r>
            <a:endParaRPr lang="en-US" sz="1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6821BB1-C407-C7D1-7C1B-3E80EC5B84B2}"/>
              </a:ext>
            </a:extLst>
          </p:cNvPr>
          <p:cNvSpPr/>
          <p:nvPr/>
        </p:nvSpPr>
        <p:spPr>
          <a:xfrm>
            <a:off x="5074920" y="27477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Chave de </a:t>
            </a:r>
            <a:r>
              <a:rPr lang="en-US" sz="1000" dirty="0" err="1">
                <a:solidFill>
                  <a:srgbClr val="1E293B"/>
                </a:solidFill>
              </a:rPr>
              <a:t>acesso</a:t>
            </a:r>
            <a:r>
              <a:rPr lang="en-US" sz="1000" dirty="0">
                <a:solidFill>
                  <a:srgbClr val="1E293B"/>
                </a:solidFill>
              </a:rPr>
              <a:t> para </a:t>
            </a:r>
            <a:r>
              <a:rPr lang="en-US" sz="1000" dirty="0" err="1">
                <a:solidFill>
                  <a:srgbClr val="1E293B"/>
                </a:solidFill>
              </a:rPr>
              <a:t>modelos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  <a:r>
              <a:rPr lang="en-US" sz="1000" dirty="0" err="1">
                <a:solidFill>
                  <a:srgbClr val="1E293B"/>
                </a:solidFill>
              </a:rPr>
              <a:t>na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  <a:r>
              <a:rPr lang="en-US" sz="1000" dirty="0" err="1">
                <a:solidFill>
                  <a:srgbClr val="1E293B"/>
                </a:solidFill>
              </a:rPr>
              <a:t>núvem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  <a:r>
              <a:rPr lang="en-US" sz="1000" dirty="0" err="1">
                <a:solidFill>
                  <a:srgbClr val="1E293B"/>
                </a:solidFill>
              </a:rPr>
              <a:t>gerenciados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  <a:r>
              <a:rPr lang="en-US" sz="1000" dirty="0" err="1">
                <a:solidFill>
                  <a:srgbClr val="1E293B"/>
                </a:solidFill>
              </a:rPr>
              <a:t>pelo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  <a:r>
              <a:rPr lang="en-US" sz="1000" dirty="0" err="1">
                <a:solidFill>
                  <a:srgbClr val="1E293B"/>
                </a:solidFill>
              </a:rPr>
              <a:t>provedor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  <a:r>
              <a:rPr lang="en-US" sz="1000" dirty="0" err="1">
                <a:solidFill>
                  <a:srgbClr val="1E293B"/>
                </a:solidFill>
              </a:rPr>
              <a:t>OpenRouter</a:t>
            </a:r>
            <a:endParaRPr lang="en-US" sz="1000" dirty="0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E3921C1E-BF41-E453-90FA-50655874A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" y="1711181"/>
            <a:ext cx="4160520" cy="233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220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3.4. </a:t>
            </a:r>
            <a:r>
              <a:rPr lang="en-US" sz="2200" b="1" dirty="0" err="1">
                <a:solidFill>
                  <a:srgbClr val="FFFFFF"/>
                </a:solidFill>
              </a:rPr>
              <a:t>Configuração</a:t>
            </a:r>
            <a:r>
              <a:rPr lang="en-US" sz="2200" b="1" dirty="0">
                <a:solidFill>
                  <a:srgbClr val="FFFFFF"/>
                </a:solidFill>
              </a:rPr>
              <a:t>: </a:t>
            </a:r>
            <a:r>
              <a:rPr lang="en-US" sz="2200" b="1" dirty="0" err="1">
                <a:solidFill>
                  <a:srgbClr val="FFFFFF"/>
                </a:solidFill>
              </a:rPr>
              <a:t>Processamento</a:t>
            </a:r>
            <a:r>
              <a:rPr lang="en-US" sz="2200" b="1" dirty="0">
                <a:solidFill>
                  <a:srgbClr val="FFFFFF"/>
                </a:solidFill>
              </a:rPr>
              <a:t> de </a:t>
            </a:r>
            <a:r>
              <a:rPr lang="en-US" sz="2200" b="1" dirty="0" err="1">
                <a:solidFill>
                  <a:srgbClr val="FFFFFF"/>
                </a:solidFill>
              </a:rPr>
              <a:t>Conhecimento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pt-BR" sz="2200" b="1" dirty="0">
                <a:solidFill>
                  <a:srgbClr val="FFFFFF"/>
                </a:solidFill>
              </a:rPr>
              <a:t>— </a:t>
            </a:r>
            <a:r>
              <a:rPr lang="en-US" sz="2200" b="1" dirty="0">
                <a:solidFill>
                  <a:srgbClr val="FFFFFF"/>
                </a:solidFill>
              </a:rPr>
              <a:t>Chunking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365760" y="44165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65760" y="46451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65760" y="48737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D79192C1-E3E2-4894-7D36-053E4981660B}"/>
              </a:ext>
            </a:extLst>
          </p:cNvPr>
          <p:cNvSpPr/>
          <p:nvPr/>
        </p:nvSpPr>
        <p:spPr>
          <a:xfrm>
            <a:off x="320040" y="3703764"/>
            <a:ext cx="2933123" cy="1266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FE0CD944-C48C-3DE9-98BC-AA49B9C6B0CB}"/>
              </a:ext>
            </a:extLst>
          </p:cNvPr>
          <p:cNvSpPr/>
          <p:nvPr/>
        </p:nvSpPr>
        <p:spPr>
          <a:xfrm>
            <a:off x="320040" y="3703764"/>
            <a:ext cx="59776" cy="1266351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FD950522-BA68-7A3B-95D8-76045C5000E4}"/>
              </a:ext>
            </a:extLst>
          </p:cNvPr>
          <p:cNvSpPr/>
          <p:nvPr/>
        </p:nvSpPr>
        <p:spPr>
          <a:xfrm>
            <a:off x="552420" y="4360551"/>
            <a:ext cx="2609303" cy="49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1E293B"/>
                </a:solidFill>
              </a:rPr>
              <a:t>Delimitador</a:t>
            </a:r>
            <a:r>
              <a:rPr lang="en-US" sz="1000" dirty="0">
                <a:solidFill>
                  <a:srgbClr val="1E293B"/>
                </a:solidFill>
              </a:rPr>
              <a:t>:  \n\n (</a:t>
            </a:r>
            <a:r>
              <a:rPr lang="en-US" sz="1000" dirty="0" err="1">
                <a:solidFill>
                  <a:srgbClr val="1E293B"/>
                </a:solidFill>
              </a:rPr>
              <a:t>parágrafo</a:t>
            </a:r>
            <a:r>
              <a:rPr lang="en-US" sz="1000" dirty="0">
                <a:solidFill>
                  <a:srgbClr val="1E293B"/>
                </a:solidFill>
              </a:rPr>
              <a:t>)</a:t>
            </a:r>
          </a:p>
          <a:p>
            <a:r>
              <a:rPr lang="en-US" sz="1000" dirty="0" err="1">
                <a:solidFill>
                  <a:srgbClr val="1E293B"/>
                </a:solidFill>
              </a:rPr>
              <a:t>Tamanho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  <a:r>
              <a:rPr lang="en-US" sz="1000" dirty="0" err="1">
                <a:solidFill>
                  <a:srgbClr val="1E293B"/>
                </a:solidFill>
              </a:rPr>
              <a:t>máx</a:t>
            </a:r>
            <a:r>
              <a:rPr lang="en-US" sz="1000" dirty="0">
                <a:solidFill>
                  <a:srgbClr val="1E293B"/>
                </a:solidFill>
              </a:rPr>
              <a:t>.:  3.200 </a:t>
            </a:r>
            <a:r>
              <a:rPr lang="en-US" sz="1000" dirty="0" err="1">
                <a:solidFill>
                  <a:srgbClr val="1E293B"/>
                </a:solidFill>
              </a:rPr>
              <a:t>caracteres</a:t>
            </a:r>
            <a:endParaRPr lang="en-US" sz="1000" dirty="0">
              <a:solidFill>
                <a:srgbClr val="1E293B"/>
              </a:solidFill>
            </a:endParaRPr>
          </a:p>
          <a:p>
            <a:r>
              <a:rPr lang="en-US" sz="1000" dirty="0">
                <a:solidFill>
                  <a:srgbClr val="1E293B"/>
                </a:solidFill>
              </a:rPr>
              <a:t>Overlap:  500 </a:t>
            </a:r>
            <a:r>
              <a:rPr lang="en-US" sz="1000" dirty="0" err="1">
                <a:solidFill>
                  <a:srgbClr val="1E293B"/>
                </a:solidFill>
              </a:rPr>
              <a:t>caracteres</a:t>
            </a:r>
            <a:endParaRPr lang="en-US" sz="1000" dirty="0">
              <a:solidFill>
                <a:srgbClr val="1E293B"/>
              </a:solidFill>
            </a:endParaRPr>
          </a:p>
          <a:p>
            <a:r>
              <a:rPr lang="en-US" sz="1000" dirty="0">
                <a:solidFill>
                  <a:srgbClr val="1E293B"/>
                </a:solidFill>
              </a:rPr>
              <a:t>Pré-</a:t>
            </a:r>
            <a:r>
              <a:rPr lang="en-US" sz="1000" dirty="0" err="1">
                <a:solidFill>
                  <a:srgbClr val="1E293B"/>
                </a:solidFill>
              </a:rPr>
              <a:t>processamento</a:t>
            </a:r>
            <a:r>
              <a:rPr lang="en-US" sz="1000" dirty="0">
                <a:solidFill>
                  <a:srgbClr val="1E293B"/>
                </a:solidFill>
              </a:rPr>
              <a:t>:  </a:t>
            </a:r>
            <a:r>
              <a:rPr lang="en-US" sz="1000" dirty="0" err="1">
                <a:solidFill>
                  <a:srgbClr val="1E293B"/>
                </a:solidFill>
              </a:rPr>
              <a:t>Substituição</a:t>
            </a:r>
            <a:r>
              <a:rPr lang="en-US" sz="1000" dirty="0">
                <a:solidFill>
                  <a:srgbClr val="1E293B"/>
                </a:solidFill>
              </a:rPr>
              <a:t> de </a:t>
            </a:r>
            <a:r>
              <a:rPr lang="en-US" sz="1000" dirty="0" err="1">
                <a:solidFill>
                  <a:srgbClr val="1E293B"/>
                </a:solidFill>
              </a:rPr>
              <a:t>espaços</a:t>
            </a:r>
            <a:r>
              <a:rPr lang="en-US" sz="1000" dirty="0">
                <a:solidFill>
                  <a:srgbClr val="1E293B"/>
                </a:solidFill>
              </a:rPr>
              <a:t>/newlines</a:t>
            </a:r>
            <a:endParaRPr lang="en-US" sz="1000" dirty="0"/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3B255AE2-ABF0-C060-A88A-BEC366F25D83}"/>
              </a:ext>
            </a:extLst>
          </p:cNvPr>
          <p:cNvSpPr/>
          <p:nvPr/>
        </p:nvSpPr>
        <p:spPr>
          <a:xfrm>
            <a:off x="274320" y="914400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0" name="Image 0" descr="/home/claude/knowledge_settings_midiacad_chunk.png">
            <a:extLst>
              <a:ext uri="{FF2B5EF4-FFF2-40B4-BE49-F238E27FC236}">
                <a16:creationId xmlns:a16="http://schemas.microsoft.com/office/drawing/2014/main" id="{CC5C978F-B8BC-0524-DEC9-4E6DBF266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96073"/>
            <a:ext cx="3931920" cy="1219734"/>
          </a:xfrm>
          <a:prstGeom prst="rect">
            <a:avLst/>
          </a:prstGeom>
        </p:spPr>
      </p:pic>
      <p:sp>
        <p:nvSpPr>
          <p:cNvPr id="21" name="Text 3">
            <a:extLst>
              <a:ext uri="{FF2B5EF4-FFF2-40B4-BE49-F238E27FC236}">
                <a16:creationId xmlns:a16="http://schemas.microsoft.com/office/drawing/2014/main" id="{678F1B17-7855-F653-54D5-D14E8F00D803}"/>
              </a:ext>
            </a:extLst>
          </p:cNvPr>
          <p:cNvSpPr/>
          <p:nvPr/>
        </p:nvSpPr>
        <p:spPr>
          <a:xfrm>
            <a:off x="274320" y="27889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Chunk Structure: General</a:t>
            </a:r>
            <a:endParaRPr lang="en-US" sz="900" dirty="0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1E3E33B0-D2BB-410D-56FF-C05FD87CAAF2}"/>
              </a:ext>
            </a:extLst>
          </p:cNvPr>
          <p:cNvSpPr/>
          <p:nvPr/>
        </p:nvSpPr>
        <p:spPr>
          <a:xfrm>
            <a:off x="4754880" y="914400"/>
            <a:ext cx="411480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3" name="Image 1" descr="/home/claude/chunk_settings.png">
            <a:extLst>
              <a:ext uri="{FF2B5EF4-FFF2-40B4-BE49-F238E27FC236}">
                <a16:creationId xmlns:a16="http://schemas.microsoft.com/office/drawing/2014/main" id="{212CCEAC-DEF8-8E7F-AF2A-9C9179A3F0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483" y="960120"/>
            <a:ext cx="3769593" cy="2514600"/>
          </a:xfrm>
          <a:prstGeom prst="rect">
            <a:avLst/>
          </a:prstGeom>
        </p:spPr>
      </p:pic>
      <p:sp>
        <p:nvSpPr>
          <p:cNvPr id="24" name="Text 5">
            <a:extLst>
              <a:ext uri="{FF2B5EF4-FFF2-40B4-BE49-F238E27FC236}">
                <a16:creationId xmlns:a16="http://schemas.microsoft.com/office/drawing/2014/main" id="{4C13AE66-D2A6-DC23-ED25-7B5451A42938}"/>
              </a:ext>
            </a:extLst>
          </p:cNvPr>
          <p:cNvSpPr/>
          <p:nvPr/>
        </p:nvSpPr>
        <p:spPr>
          <a:xfrm>
            <a:off x="4754880" y="363931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Delimitador \n\n · Máx 3.200 chars · Overlap 500 chars</a:t>
            </a:r>
            <a:endParaRPr lang="en-US" sz="9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3247B36F-C8F0-818C-D191-AEFF81334CB8}"/>
              </a:ext>
            </a:extLst>
          </p:cNvPr>
          <p:cNvSpPr/>
          <p:nvPr/>
        </p:nvSpPr>
        <p:spPr>
          <a:xfrm>
            <a:off x="522996" y="3734244"/>
            <a:ext cx="13585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Parâmetros-chave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3">
            <a:extLst>
              <a:ext uri="{FF2B5EF4-FFF2-40B4-BE49-F238E27FC236}">
                <a16:creationId xmlns:a16="http://schemas.microsoft.com/office/drawing/2014/main" id="{5EFB4522-A48D-785A-F546-39F9F1A166F6}"/>
              </a:ext>
            </a:extLst>
          </p:cNvPr>
          <p:cNvSpPr/>
          <p:nvPr/>
        </p:nvSpPr>
        <p:spPr>
          <a:xfrm>
            <a:off x="1700784" y="4663440"/>
            <a:ext cx="574243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E2246740-095B-639C-6498-7EF08BD5A1BA}"/>
              </a:ext>
            </a:extLst>
          </p:cNvPr>
          <p:cNvSpPr/>
          <p:nvPr/>
        </p:nvSpPr>
        <p:spPr>
          <a:xfrm>
            <a:off x="1700784" y="4663440"/>
            <a:ext cx="72874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3.5. </a:t>
            </a:r>
            <a:r>
              <a:rPr lang="en-US" sz="2200" b="1" dirty="0" err="1">
                <a:solidFill>
                  <a:srgbClr val="FFFFFF"/>
                </a:solidFill>
              </a:rPr>
              <a:t>Configuração</a:t>
            </a:r>
            <a:r>
              <a:rPr lang="en-US" sz="2200" b="1" dirty="0">
                <a:solidFill>
                  <a:srgbClr val="FFFFFF"/>
                </a:solidFill>
              </a:rPr>
              <a:t>:</a:t>
            </a:r>
            <a:r>
              <a:rPr lang="pt-BR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Indexação</a:t>
            </a:r>
            <a:r>
              <a:rPr lang="en-US" sz="2200" b="1" dirty="0">
                <a:solidFill>
                  <a:srgbClr val="FFFFFF"/>
                </a:solidFill>
              </a:rPr>
              <a:t> e Embedding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/home/claude/knowledge_settings_midiacad_ind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804" y="960120"/>
            <a:ext cx="6154392" cy="1691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7889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Index Method: High Quality — usa o modelo de embedding para indexação mais precisa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3017520"/>
            <a:ext cx="8595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" name="Image 1" descr="/home/claude/knowledge_settings_midiacad_mo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390854"/>
            <a:ext cx="8412480" cy="39633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20" y="425196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Embedding Model: qwen3-embedding:4b — modelo local via Ollama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F"/>
                </a:solidFill>
              </a:rPr>
              <a:t>Processamento 100% local · Sem custo de tokens externos · Contexto de embedding: 4K tokens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3">
            <a:extLst>
              <a:ext uri="{FF2B5EF4-FFF2-40B4-BE49-F238E27FC236}">
                <a16:creationId xmlns:a16="http://schemas.microsoft.com/office/drawing/2014/main" id="{8BC34914-1104-5264-49EB-1DB522F28825}"/>
              </a:ext>
            </a:extLst>
          </p:cNvPr>
          <p:cNvSpPr/>
          <p:nvPr/>
        </p:nvSpPr>
        <p:spPr>
          <a:xfrm>
            <a:off x="4782311" y="4256532"/>
            <a:ext cx="4251961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30847267-FD46-4990-A4E1-276446E6E353}"/>
              </a:ext>
            </a:extLst>
          </p:cNvPr>
          <p:cNvSpPr/>
          <p:nvPr/>
        </p:nvSpPr>
        <p:spPr>
          <a:xfrm>
            <a:off x="274320" y="4256532"/>
            <a:ext cx="4251961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3.6. </a:t>
            </a:r>
            <a:r>
              <a:rPr lang="en-US" sz="2200" b="1" dirty="0" err="1">
                <a:solidFill>
                  <a:srgbClr val="FFFFFF"/>
                </a:solidFill>
              </a:rPr>
              <a:t>Configuração</a:t>
            </a:r>
            <a:r>
              <a:rPr lang="en-US" sz="2200" b="1" dirty="0">
                <a:solidFill>
                  <a:srgbClr val="FFFFFF"/>
                </a:solidFill>
              </a:rPr>
              <a:t>:</a:t>
            </a:r>
            <a:r>
              <a:rPr lang="pt-BR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>
                <a:solidFill>
                  <a:srgbClr val="FFFFFF"/>
                </a:solidFill>
              </a:rPr>
              <a:t>Retrieval</a:t>
            </a:r>
            <a:endParaRPr lang="en-US" sz="22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ACF18875-D927-FF76-F98E-E4AADDBDBB81}"/>
              </a:ext>
            </a:extLst>
          </p:cNvPr>
          <p:cNvSpPr/>
          <p:nvPr/>
        </p:nvSpPr>
        <p:spPr>
          <a:xfrm>
            <a:off x="274320" y="914400"/>
            <a:ext cx="85953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1" name="Image 0" descr="/home/claude/retrieval_settings.png">
            <a:extLst>
              <a:ext uri="{FF2B5EF4-FFF2-40B4-BE49-F238E27FC236}">
                <a16:creationId xmlns:a16="http://schemas.microsoft.com/office/drawing/2014/main" id="{94A63F1B-BE3E-7EA4-AE05-7A3B69233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945" y="960120"/>
            <a:ext cx="6646111" cy="2788920"/>
          </a:xfrm>
          <a:prstGeom prst="rect">
            <a:avLst/>
          </a:prstGeom>
        </p:spPr>
      </p:pic>
      <p:sp>
        <p:nvSpPr>
          <p:cNvPr id="12" name="Text 3">
            <a:extLst>
              <a:ext uri="{FF2B5EF4-FFF2-40B4-BE49-F238E27FC236}">
                <a16:creationId xmlns:a16="http://schemas.microsoft.com/office/drawing/2014/main" id="{8B200A35-14D1-C1B0-A453-8DA93464911C}"/>
              </a:ext>
            </a:extLst>
          </p:cNvPr>
          <p:cNvSpPr/>
          <p:nvPr/>
        </p:nvSpPr>
        <p:spPr>
          <a:xfrm>
            <a:off x="274320" y="39319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Retrieval Setting — </a:t>
            </a:r>
            <a:r>
              <a:rPr lang="en-US" sz="950" dirty="0">
                <a:solidFill>
                  <a:srgbClr val="1E293B"/>
                </a:solidFill>
              </a:rPr>
              <a:t>Painel de configuração do método de recuperação no Dify</a:t>
            </a:r>
            <a:endParaRPr lang="en-US" sz="95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469A271E-CC64-372F-7E70-83A3E55806C5}"/>
              </a:ext>
            </a:extLst>
          </p:cNvPr>
          <p:cNvSpPr/>
          <p:nvPr/>
        </p:nvSpPr>
        <p:spPr>
          <a:xfrm>
            <a:off x="365760" y="42976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</a:rPr>
              <a:t>Vector Search — </a:t>
            </a:r>
            <a:r>
              <a:rPr lang="en-US" sz="950" dirty="0">
                <a:solidFill>
                  <a:srgbClr val="1E293B"/>
                </a:solidFill>
              </a:rPr>
              <a:t>Embeddings da query comparados aos chunks por similaridade vetorial (cosseno).</a:t>
            </a:r>
            <a:endParaRPr lang="en-US" sz="95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A7CB92B3-F753-2923-75BE-0D2FEF4D968D}"/>
              </a:ext>
            </a:extLst>
          </p:cNvPr>
          <p:cNvSpPr/>
          <p:nvPr/>
        </p:nvSpPr>
        <p:spPr>
          <a:xfrm>
            <a:off x="4855185" y="42976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</a:rPr>
              <a:t>Rerank Model: BAAI/bge-reranker-v2-m3 — </a:t>
            </a:r>
            <a:r>
              <a:rPr lang="en-US" sz="950" dirty="0">
                <a:solidFill>
                  <a:srgbClr val="1E293B"/>
                </a:solidFill>
              </a:rPr>
              <a:t>Re-ordena os chunks por relevância semântica antes de enviar ao LLM.</a:t>
            </a:r>
            <a:endParaRPr lang="en-US" sz="95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7B214CE7-B438-8471-9699-C71EC7F13C55}"/>
              </a:ext>
            </a:extLst>
          </p:cNvPr>
          <p:cNvSpPr/>
          <p:nvPr/>
        </p:nvSpPr>
        <p:spPr>
          <a:xfrm>
            <a:off x="365760" y="468172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</a:rPr>
              <a:t>Top K = 4 — </a:t>
            </a:r>
            <a:r>
              <a:rPr lang="en-US" sz="950" dirty="0">
                <a:solidFill>
                  <a:srgbClr val="1E293B"/>
                </a:solidFill>
              </a:rPr>
              <a:t>Retorna os 4 chunks mais relevantes após o reranking.</a:t>
            </a:r>
            <a:endParaRPr lang="en-US" sz="95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1E4053B2-EF12-D699-C30D-16333DBBE833}"/>
              </a:ext>
            </a:extLst>
          </p:cNvPr>
          <p:cNvSpPr/>
          <p:nvPr/>
        </p:nvSpPr>
        <p:spPr>
          <a:xfrm>
            <a:off x="4855185" y="468172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5F"/>
                </a:solidFill>
              </a:rPr>
              <a:t>Score Threshold = 0,4 — </a:t>
            </a:r>
            <a:r>
              <a:rPr lang="en-US" sz="950" dirty="0">
                <a:solidFill>
                  <a:srgbClr val="1E293B"/>
                </a:solidFill>
              </a:rPr>
              <a:t>Descarta chunks com similaridade abaixo de 0,4.</a:t>
            </a:r>
            <a:endParaRPr lang="en-US" sz="950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85784803-40DF-4E12-27C3-135BC415EBE5}"/>
              </a:ext>
            </a:extLst>
          </p:cNvPr>
          <p:cNvSpPr/>
          <p:nvPr/>
        </p:nvSpPr>
        <p:spPr>
          <a:xfrm>
            <a:off x="274320" y="4256532"/>
            <a:ext cx="72874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D965B2B2-B33A-7430-3E48-1B5154287066}"/>
              </a:ext>
            </a:extLst>
          </p:cNvPr>
          <p:cNvSpPr/>
          <p:nvPr/>
        </p:nvSpPr>
        <p:spPr>
          <a:xfrm>
            <a:off x="4782311" y="4256532"/>
            <a:ext cx="72874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3">
            <a:extLst>
              <a:ext uri="{FF2B5EF4-FFF2-40B4-BE49-F238E27FC236}">
                <a16:creationId xmlns:a16="http://schemas.microsoft.com/office/drawing/2014/main" id="{3AEBFCC0-A0E6-268B-8348-5A0DA0991279}"/>
              </a:ext>
            </a:extLst>
          </p:cNvPr>
          <p:cNvSpPr/>
          <p:nvPr/>
        </p:nvSpPr>
        <p:spPr>
          <a:xfrm>
            <a:off x="1139952" y="4663440"/>
            <a:ext cx="682142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4. Pipelines: Consultor </a:t>
            </a:r>
            <a:r>
              <a:rPr lang="en-US" sz="2200" b="1" dirty="0" err="1">
                <a:solidFill>
                  <a:srgbClr val="FFFFFF"/>
                </a:solidFill>
              </a:rPr>
              <a:t>MidiaCad</a:t>
            </a:r>
            <a:r>
              <a:rPr lang="en-US" sz="2200" b="1" dirty="0">
                <a:solidFill>
                  <a:srgbClr val="FFFFFF"/>
                </a:solidFill>
              </a:rPr>
              <a:t> — </a:t>
            </a:r>
            <a:r>
              <a:rPr lang="en-US" sz="2200" b="1" dirty="0" err="1">
                <a:solidFill>
                  <a:srgbClr val="FFFFFF"/>
                </a:solidFill>
              </a:rPr>
              <a:t>Visão</a:t>
            </a:r>
            <a:r>
              <a:rPr lang="en-US" sz="2200" b="1" dirty="0">
                <a:solidFill>
                  <a:srgbClr val="FFFFFF"/>
                </a:solidFill>
              </a:rPr>
              <a:t> Geral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/home/claude/fluxo_consultor_midi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895" y="960120"/>
            <a:ext cx="4698211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1. Input de Usuário  →  2. Recuperação de Contexto  →  3. Interpretador  →  4. Limpador de Siglas  →  5. Construtor  →  6. Resposta</a:t>
            </a:r>
            <a:endParaRPr lang="en-US" sz="95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708D2624-B954-35CF-BBB9-F6C5658C91F4}"/>
              </a:ext>
            </a:extLst>
          </p:cNvPr>
          <p:cNvSpPr/>
          <p:nvPr/>
        </p:nvSpPr>
        <p:spPr>
          <a:xfrm>
            <a:off x="1139951" y="4663440"/>
            <a:ext cx="86567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4B2C24-EA4E-A578-F46B-60C4C632D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4">
            <a:extLst>
              <a:ext uri="{FF2B5EF4-FFF2-40B4-BE49-F238E27FC236}">
                <a16:creationId xmlns:a16="http://schemas.microsoft.com/office/drawing/2014/main" id="{3DED93AD-8C48-9379-E414-98781391927D}"/>
              </a:ext>
            </a:extLst>
          </p:cNvPr>
          <p:cNvSpPr/>
          <p:nvPr/>
        </p:nvSpPr>
        <p:spPr>
          <a:xfrm>
            <a:off x="204173" y="924121"/>
            <a:ext cx="5682343" cy="136943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A087FEBE-CA75-4E67-89A2-B1C8AC438DC5}"/>
              </a:ext>
            </a:extLst>
          </p:cNvPr>
          <p:cNvSpPr/>
          <p:nvPr/>
        </p:nvSpPr>
        <p:spPr>
          <a:xfrm>
            <a:off x="217714" y="2644419"/>
            <a:ext cx="5682343" cy="2122179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9D2D8F7C-6419-07AD-B0B4-2AB3A48BB490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27F61F-3A78-21E4-B058-807AE0692C08}"/>
              </a:ext>
            </a:extLst>
          </p:cNvPr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4.1. Pipelines: Consultor </a:t>
            </a:r>
            <a:r>
              <a:rPr lang="en-US" sz="2200" b="1" dirty="0" err="1">
                <a:solidFill>
                  <a:srgbClr val="FFFFFF"/>
                </a:solidFill>
              </a:rPr>
              <a:t>MidiaCad</a:t>
            </a:r>
            <a:r>
              <a:rPr lang="en-US" sz="2200" b="1" dirty="0">
                <a:solidFill>
                  <a:srgbClr val="FFFFFF"/>
                </a:solidFill>
              </a:rPr>
              <a:t> — Casos de Uso</a:t>
            </a:r>
            <a:endParaRPr lang="en-US" sz="2200" dirty="0"/>
          </a:p>
        </p:txBody>
      </p:sp>
      <p:pic>
        <p:nvPicPr>
          <p:cNvPr id="5" name="Image 0" descr="/home/claude/knowledge_settings_midiacad.png">
            <a:extLst>
              <a:ext uri="{FF2B5EF4-FFF2-40B4-BE49-F238E27FC236}">
                <a16:creationId xmlns:a16="http://schemas.microsoft.com/office/drawing/2014/main" id="{D536AA1E-3BBC-28BD-7DCA-591FA2A09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316" y="1028321"/>
            <a:ext cx="4361144" cy="1097280"/>
          </a:xfrm>
          <a:prstGeom prst="rect">
            <a:avLst/>
          </a:prstGeom>
        </p:spPr>
      </p:pic>
      <p:pic>
        <p:nvPicPr>
          <p:cNvPr id="7" name="Image 1" descr="/home/claude/knowledge_midiacad_documents.png">
            <a:extLst>
              <a:ext uri="{FF2B5EF4-FFF2-40B4-BE49-F238E27FC236}">
                <a16:creationId xmlns:a16="http://schemas.microsoft.com/office/drawing/2014/main" id="{9732728F-F942-03CF-3633-7415D814A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690854"/>
            <a:ext cx="5399479" cy="1977734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D749AF76-7E88-9FE9-8F9E-B945D29FB378}"/>
              </a:ext>
            </a:extLst>
          </p:cNvPr>
          <p:cNvSpPr/>
          <p:nvPr/>
        </p:nvSpPr>
        <p:spPr>
          <a:xfrm>
            <a:off x="409316" y="4805978"/>
            <a:ext cx="55627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i="1" dirty="0">
                <a:solidFill>
                  <a:srgbClr val="64748B"/>
                </a:solidFill>
              </a:rPr>
              <a:t>10+ </a:t>
            </a:r>
            <a:r>
              <a:rPr lang="en-US" sz="900" i="1" dirty="0" err="1">
                <a:solidFill>
                  <a:srgbClr val="64748B"/>
                </a:solidFill>
              </a:rPr>
              <a:t>documentos</a:t>
            </a:r>
            <a:r>
              <a:rPr lang="en-US" sz="900" i="1" dirty="0">
                <a:solidFill>
                  <a:srgbClr val="64748B"/>
                </a:solidFill>
              </a:rPr>
              <a:t> .docx </a:t>
            </a:r>
            <a:r>
              <a:rPr lang="en-US" sz="900" i="1" dirty="0" err="1">
                <a:solidFill>
                  <a:srgbClr val="64748B"/>
                </a:solidFill>
              </a:rPr>
              <a:t>indexados</a:t>
            </a:r>
            <a:r>
              <a:rPr lang="en-US" sz="900" i="1" dirty="0">
                <a:solidFill>
                  <a:srgbClr val="64748B"/>
                </a:solidFill>
              </a:rPr>
              <a:t> — ECU, UC-</a:t>
            </a:r>
            <a:r>
              <a:rPr lang="en-US" sz="900" i="1" dirty="0" err="1">
                <a:solidFill>
                  <a:srgbClr val="64748B"/>
                </a:solidFill>
              </a:rPr>
              <a:t>Veículos</a:t>
            </a:r>
            <a:r>
              <a:rPr lang="en-US" sz="900" i="1" dirty="0">
                <a:solidFill>
                  <a:srgbClr val="64748B"/>
                </a:solidFill>
              </a:rPr>
              <a:t>, UC-</a:t>
            </a:r>
            <a:r>
              <a:rPr lang="en-US" sz="900" i="1" dirty="0" err="1">
                <a:solidFill>
                  <a:srgbClr val="64748B"/>
                </a:solidFill>
              </a:rPr>
              <a:t>Negociação</a:t>
            </a:r>
            <a:r>
              <a:rPr lang="en-US" sz="900" i="1" dirty="0">
                <a:solidFill>
                  <a:srgbClr val="64748B"/>
                </a:solidFill>
              </a:rPr>
              <a:t>, etc. — </a:t>
            </a:r>
            <a:r>
              <a:rPr lang="en-US" sz="900" i="1" dirty="0" err="1">
                <a:solidFill>
                  <a:srgbClr val="64748B"/>
                </a:solidFill>
              </a:rPr>
              <a:t>todos</a:t>
            </a:r>
            <a:r>
              <a:rPr lang="en-US" sz="900" i="1" dirty="0">
                <a:solidFill>
                  <a:srgbClr val="64748B"/>
                </a:solidFill>
              </a:rPr>
              <a:t> com status Available</a:t>
            </a:r>
            <a:endParaRPr lang="en-US" sz="9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10D04016-4031-4558-B5CE-0FA208041945}"/>
              </a:ext>
            </a:extLst>
          </p:cNvPr>
          <p:cNvSpPr/>
          <p:nvPr/>
        </p:nvSpPr>
        <p:spPr>
          <a:xfrm>
            <a:off x="1687285" y="2321109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 err="1">
                <a:solidFill>
                  <a:srgbClr val="64748B"/>
                </a:solidFill>
              </a:rPr>
              <a:t>Configurações</a:t>
            </a:r>
            <a:r>
              <a:rPr lang="en-US" sz="900" i="1" dirty="0">
                <a:solidFill>
                  <a:srgbClr val="64748B"/>
                </a:solidFill>
              </a:rPr>
              <a:t> da Base de </a:t>
            </a:r>
            <a:r>
              <a:rPr lang="en-US" sz="900" i="1" dirty="0" err="1">
                <a:solidFill>
                  <a:srgbClr val="64748B"/>
                </a:solidFill>
              </a:rPr>
              <a:t>Conhecimento</a:t>
            </a:r>
            <a:endParaRPr lang="en-US" sz="900" i="1" dirty="0">
              <a:solidFill>
                <a:srgbClr val="64748B"/>
              </a:solidFill>
            </a:endParaRPr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5C20B560-32B1-C581-7F7C-22EA1B36C22F}"/>
              </a:ext>
            </a:extLst>
          </p:cNvPr>
          <p:cNvSpPr/>
          <p:nvPr/>
        </p:nvSpPr>
        <p:spPr>
          <a:xfrm>
            <a:off x="6059562" y="1049393"/>
            <a:ext cx="2933123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427F4519-7470-65F4-F6A0-4B23AF862AB2}"/>
              </a:ext>
            </a:extLst>
          </p:cNvPr>
          <p:cNvSpPr/>
          <p:nvPr/>
        </p:nvSpPr>
        <p:spPr>
          <a:xfrm>
            <a:off x="6059562" y="1049393"/>
            <a:ext cx="72874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E897FDA9-C79A-83BD-D36B-EE094264BD8E}"/>
              </a:ext>
            </a:extLst>
          </p:cNvPr>
          <p:cNvSpPr/>
          <p:nvPr/>
        </p:nvSpPr>
        <p:spPr>
          <a:xfrm>
            <a:off x="6291942" y="1095113"/>
            <a:ext cx="260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Knowledge settings</a:t>
            </a:r>
            <a:endParaRPr lang="en-US" sz="12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30713E8F-922C-48E1-E826-A04BFCA8809D}"/>
              </a:ext>
            </a:extLst>
          </p:cNvPr>
          <p:cNvSpPr/>
          <p:nvPr/>
        </p:nvSpPr>
        <p:spPr>
          <a:xfrm>
            <a:off x="6291942" y="1351145"/>
            <a:ext cx="26093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000" dirty="0"/>
              <a:t>Visão inicial das configurações.</a:t>
            </a:r>
            <a:endParaRPr lang="en-US" sz="1000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9392272D-5B25-D8CF-6F11-2AED4C14D176}"/>
              </a:ext>
            </a:extLst>
          </p:cNvPr>
          <p:cNvSpPr/>
          <p:nvPr/>
        </p:nvSpPr>
        <p:spPr>
          <a:xfrm>
            <a:off x="6059562" y="2737104"/>
            <a:ext cx="2933123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1750BC79-5E4A-90D4-C4FD-1175BA631B86}"/>
              </a:ext>
            </a:extLst>
          </p:cNvPr>
          <p:cNvSpPr/>
          <p:nvPr/>
        </p:nvSpPr>
        <p:spPr>
          <a:xfrm>
            <a:off x="6059562" y="2737104"/>
            <a:ext cx="72874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4030DE1A-2503-2E0D-9159-63B0332BC9BB}"/>
              </a:ext>
            </a:extLst>
          </p:cNvPr>
          <p:cNvSpPr/>
          <p:nvPr/>
        </p:nvSpPr>
        <p:spPr>
          <a:xfrm>
            <a:off x="6291942" y="2782824"/>
            <a:ext cx="260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Documents – Base de </a:t>
            </a:r>
            <a:r>
              <a:rPr lang="en-US" sz="1200" b="1" dirty="0" err="1">
                <a:solidFill>
                  <a:srgbClr val="1A2B5F"/>
                </a:solidFill>
              </a:rPr>
              <a:t>Conhecimento</a:t>
            </a:r>
            <a:endParaRPr lang="en-US" sz="12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5DAEBEBB-322E-E612-178E-6D4145F52F4A}"/>
              </a:ext>
            </a:extLst>
          </p:cNvPr>
          <p:cNvSpPr/>
          <p:nvPr/>
        </p:nvSpPr>
        <p:spPr>
          <a:xfrm>
            <a:off x="6291942" y="3038856"/>
            <a:ext cx="26093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000" dirty="0"/>
              <a:t>Documento indexados e prontos para recuperação de contexto.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3337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">
            <a:extLst>
              <a:ext uri="{FF2B5EF4-FFF2-40B4-BE49-F238E27FC236}">
                <a16:creationId xmlns:a16="http://schemas.microsoft.com/office/drawing/2014/main" id="{736739E3-9F4A-8F2F-5D69-1D24D928EF9C}"/>
              </a:ext>
            </a:extLst>
          </p:cNvPr>
          <p:cNvSpPr/>
          <p:nvPr/>
        </p:nvSpPr>
        <p:spPr>
          <a:xfrm>
            <a:off x="6172200" y="4326988"/>
            <a:ext cx="2743199" cy="541755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052711C6-3ABB-BB12-0DDE-3465A24821CC}"/>
              </a:ext>
            </a:extLst>
          </p:cNvPr>
          <p:cNvSpPr/>
          <p:nvPr/>
        </p:nvSpPr>
        <p:spPr>
          <a:xfrm>
            <a:off x="6172199" y="4326988"/>
            <a:ext cx="79249" cy="54175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82BB6CE0-8536-2F06-03CA-C3A8BE81C097}"/>
              </a:ext>
            </a:extLst>
          </p:cNvPr>
          <p:cNvSpPr/>
          <p:nvPr/>
        </p:nvSpPr>
        <p:spPr>
          <a:xfrm>
            <a:off x="3200400" y="4324526"/>
            <a:ext cx="2743200" cy="541755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146C01E8-9204-B3AD-D183-F6991C8C3F41}"/>
              </a:ext>
            </a:extLst>
          </p:cNvPr>
          <p:cNvSpPr/>
          <p:nvPr/>
        </p:nvSpPr>
        <p:spPr>
          <a:xfrm>
            <a:off x="228601" y="4324526"/>
            <a:ext cx="2743199" cy="541755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4.2. Pipelines: Consultor </a:t>
            </a:r>
            <a:r>
              <a:rPr lang="en-US" sz="2200" b="1" dirty="0" err="1">
                <a:solidFill>
                  <a:srgbClr val="FFFFFF"/>
                </a:solidFill>
              </a:rPr>
              <a:t>MidiaCad</a:t>
            </a:r>
            <a:r>
              <a:rPr lang="en-US" sz="2200" b="1" dirty="0">
                <a:solidFill>
                  <a:srgbClr val="FFFFFF"/>
                </a:solidFill>
              </a:rPr>
              <a:t> — </a:t>
            </a:r>
            <a:r>
              <a:rPr lang="pt-BR" sz="2200" b="1" dirty="0">
                <a:solidFill>
                  <a:srgbClr val="FFFFFF"/>
                </a:solidFill>
              </a:rPr>
              <a:t>Conhecimento </a:t>
            </a:r>
            <a:r>
              <a:rPr lang="en-US" sz="2200" b="1" dirty="0">
                <a:solidFill>
                  <a:srgbClr val="FFFFFF"/>
                </a:solidFill>
              </a:rPr>
              <a:t>·  </a:t>
            </a:r>
            <a:r>
              <a:rPr lang="pt-BR" sz="2200" b="1" dirty="0">
                <a:solidFill>
                  <a:srgbClr val="FFFFFF"/>
                </a:solidFill>
              </a:rPr>
              <a:t>Interpretação</a:t>
            </a:r>
            <a:endParaRPr lang="en-US" sz="220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C83A77C0-7ACC-DADE-E27F-3DD52BE2F359}"/>
              </a:ext>
            </a:extLst>
          </p:cNvPr>
          <p:cNvSpPr/>
          <p:nvPr/>
        </p:nvSpPr>
        <p:spPr>
          <a:xfrm>
            <a:off x="228600" y="91440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4" name="Image 0" descr="/home/claude/fluxo_consultor_midiacad_knowledge.png">
            <a:extLst>
              <a:ext uri="{FF2B5EF4-FFF2-40B4-BE49-F238E27FC236}">
                <a16:creationId xmlns:a16="http://schemas.microsoft.com/office/drawing/2014/main" id="{F23730E0-BFB1-AB0E-BA92-B77F6D768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9889"/>
            <a:ext cx="2560320" cy="1323703"/>
          </a:xfrm>
          <a:prstGeom prst="rect">
            <a:avLst/>
          </a:prstGeom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4F619FC4-EFA3-A605-E740-D38E16C37575}"/>
              </a:ext>
            </a:extLst>
          </p:cNvPr>
          <p:cNvSpPr/>
          <p:nvPr/>
        </p:nvSpPr>
        <p:spPr>
          <a:xfrm>
            <a:off x="307850" y="4178808"/>
            <a:ext cx="27431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B5F"/>
                </a:solidFill>
              </a:rPr>
              <a:t>Recuperação de Contexto — </a:t>
            </a:r>
            <a:r>
              <a:rPr lang="en-US" sz="850" dirty="0">
                <a:solidFill>
                  <a:srgbClr val="1E293B"/>
                </a:solidFill>
              </a:rPr>
              <a:t>Nó de busca vetorial: recebe a query do usuário e recupera chunks da base "Casos de Uso (MidiaCad)" via HQ·Vector</a:t>
            </a:r>
            <a:endParaRPr lang="en-US" sz="850" dirty="0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3DE1F34C-BC9E-DDF6-9C5B-6B1656B62266}"/>
              </a:ext>
            </a:extLst>
          </p:cNvPr>
          <p:cNvSpPr/>
          <p:nvPr/>
        </p:nvSpPr>
        <p:spPr>
          <a:xfrm>
            <a:off x="3200400" y="91440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7" name="Image 1" descr="/home/claude/fluxo_consultor_llm_interpretador.png">
            <a:extLst>
              <a:ext uri="{FF2B5EF4-FFF2-40B4-BE49-F238E27FC236}">
                <a16:creationId xmlns:a16="http://schemas.microsoft.com/office/drawing/2014/main" id="{7A6C9FF8-78E4-1733-F8D3-892347535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288569"/>
            <a:ext cx="2560320" cy="2406343"/>
          </a:xfrm>
          <a:prstGeom prst="rect">
            <a:avLst/>
          </a:prstGeom>
        </p:spPr>
      </p:pic>
      <p:sp>
        <p:nvSpPr>
          <p:cNvPr id="18" name="Text 5">
            <a:extLst>
              <a:ext uri="{FF2B5EF4-FFF2-40B4-BE49-F238E27FC236}">
                <a16:creationId xmlns:a16="http://schemas.microsoft.com/office/drawing/2014/main" id="{9E03AF93-2363-E6F1-6F5B-A1A62E5579AE}"/>
              </a:ext>
            </a:extLst>
          </p:cNvPr>
          <p:cNvSpPr/>
          <p:nvPr/>
        </p:nvSpPr>
        <p:spPr>
          <a:xfrm>
            <a:off x="3279648" y="417880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B5F"/>
                </a:solidFill>
              </a:rPr>
              <a:t>Interpretador — System Prompt — </a:t>
            </a:r>
            <a:r>
              <a:rPr lang="en-US" sz="850" dirty="0">
                <a:solidFill>
                  <a:srgbClr val="1E293B"/>
                </a:solidFill>
              </a:rPr>
              <a:t>LLM llama3.2:3b configurado com prompt de sistema para interpretar a intenção do usuário e rotear para a fonte correta</a:t>
            </a:r>
            <a:endParaRPr lang="en-US" sz="850" dirty="0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2F52905C-1074-5168-4F66-346CB07FDB81}"/>
              </a:ext>
            </a:extLst>
          </p:cNvPr>
          <p:cNvSpPr/>
          <p:nvPr/>
        </p:nvSpPr>
        <p:spPr>
          <a:xfrm>
            <a:off x="6172200" y="91440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0" name="Image 2" descr="/home/claude/fluxo_consultor_llm_interpretador_input.png">
            <a:extLst>
              <a:ext uri="{FF2B5EF4-FFF2-40B4-BE49-F238E27FC236}">
                <a16:creationId xmlns:a16="http://schemas.microsoft.com/office/drawing/2014/main" id="{5C797CC0-AAE4-2106-C5CC-B0B74EF522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495655"/>
            <a:ext cx="2560320" cy="1992169"/>
          </a:xfrm>
          <a:prstGeom prst="rect">
            <a:avLst/>
          </a:prstGeom>
        </p:spPr>
      </p:pic>
      <p:sp>
        <p:nvSpPr>
          <p:cNvPr id="21" name="Text 7">
            <a:extLst>
              <a:ext uri="{FF2B5EF4-FFF2-40B4-BE49-F238E27FC236}">
                <a16:creationId xmlns:a16="http://schemas.microsoft.com/office/drawing/2014/main" id="{55D99D10-4286-2C54-B594-4EEE8A10945B}"/>
              </a:ext>
            </a:extLst>
          </p:cNvPr>
          <p:cNvSpPr/>
          <p:nvPr/>
        </p:nvSpPr>
        <p:spPr>
          <a:xfrm>
            <a:off x="6251446" y="417880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B5F"/>
                </a:solidFill>
              </a:rPr>
              <a:t>Interpretador — User Prompt — </a:t>
            </a:r>
            <a:r>
              <a:rPr lang="en-US" sz="850" dirty="0">
                <a:solidFill>
                  <a:srgbClr val="1E293B"/>
                </a:solidFill>
              </a:rPr>
              <a:t>Prompt do usuário com 4 tarefas: esclarecer pergunta, identificar fonte principal, listar fontes cruzadas e retornar formato JSON</a:t>
            </a:r>
            <a:endParaRPr lang="en-US" sz="850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D8621587-F3FD-FF88-6CC4-B4BA6DE43510}"/>
              </a:ext>
            </a:extLst>
          </p:cNvPr>
          <p:cNvSpPr/>
          <p:nvPr/>
        </p:nvSpPr>
        <p:spPr>
          <a:xfrm>
            <a:off x="228600" y="4324526"/>
            <a:ext cx="79249" cy="54175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F2B08B95-97B9-65EA-63A9-08825E14F6BC}"/>
              </a:ext>
            </a:extLst>
          </p:cNvPr>
          <p:cNvSpPr/>
          <p:nvPr/>
        </p:nvSpPr>
        <p:spPr>
          <a:xfrm>
            <a:off x="3200399" y="4324526"/>
            <a:ext cx="79249" cy="54175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">
            <a:extLst>
              <a:ext uri="{FF2B5EF4-FFF2-40B4-BE49-F238E27FC236}">
                <a16:creationId xmlns:a16="http://schemas.microsoft.com/office/drawing/2014/main" id="{96E61D00-3113-4A39-3C19-A9DBF15AC637}"/>
              </a:ext>
            </a:extLst>
          </p:cNvPr>
          <p:cNvSpPr/>
          <p:nvPr/>
        </p:nvSpPr>
        <p:spPr>
          <a:xfrm>
            <a:off x="4934712" y="944294"/>
            <a:ext cx="3889247" cy="319336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4.3. Pipelines: Consultor </a:t>
            </a:r>
            <a:r>
              <a:rPr lang="en-US" sz="2200" b="1" dirty="0" err="1">
                <a:solidFill>
                  <a:srgbClr val="FFFFFF"/>
                </a:solidFill>
              </a:rPr>
              <a:t>MidiaCad</a:t>
            </a:r>
            <a:r>
              <a:rPr lang="en-US" sz="2200" b="1" dirty="0">
                <a:solidFill>
                  <a:srgbClr val="FFFFFF"/>
                </a:solidFill>
              </a:rPr>
              <a:t> — </a:t>
            </a:r>
            <a:r>
              <a:rPr lang="en-US" sz="2200" b="1" dirty="0" err="1">
                <a:solidFill>
                  <a:srgbClr val="FFFFFF"/>
                </a:solidFill>
              </a:rPr>
              <a:t>Nó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Limpeza</a:t>
            </a:r>
            <a:r>
              <a:rPr lang="en-US" sz="2200" b="1" dirty="0">
                <a:solidFill>
                  <a:srgbClr val="FFFFFF"/>
                </a:solidFill>
              </a:rPr>
              <a:t> de </a:t>
            </a:r>
            <a:r>
              <a:rPr lang="en-US" sz="2200" b="1" dirty="0" err="1">
                <a:solidFill>
                  <a:srgbClr val="FFFFFF"/>
                </a:solidFill>
              </a:rPr>
              <a:t>Siglas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5720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12064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A2B5F"/>
                </a:solidFill>
              </a:rPr>
              <a:t>Funçao</a:t>
            </a:r>
            <a:r>
              <a:rPr lang="en-US" sz="1400" b="1" dirty="0">
                <a:solidFill>
                  <a:srgbClr val="1A2B5F"/>
                </a:solidFill>
              </a:rPr>
              <a:t> do </a:t>
            </a:r>
            <a:r>
              <a:rPr lang="en-US" sz="1400" b="1" dirty="0" err="1">
                <a:solidFill>
                  <a:srgbClr val="1A2B5F"/>
                </a:solidFill>
              </a:rPr>
              <a:t>nó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163312" y="1463040"/>
            <a:ext cx="3706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Recebe o contexto bruto (Array[object]) do nó de Recuperação de Contexto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63312" y="1993392"/>
            <a:ext cx="3706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Recebe a saída do Interpretador em formato JSON (String)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163312" y="2523744"/>
            <a:ext cx="3706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Normaliza siglas e acrônimos presentes nos documentos técnicos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163312" y="3054096"/>
            <a:ext cx="3706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Estrutura e limpa o contexto documental para uso pelo Construtor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163312" y="3584448"/>
            <a:ext cx="3706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Implementado em Python3 — execução local no ambiente Dify</a:t>
            </a:r>
            <a:endParaRPr lang="en-US" sz="110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F88F4642-A795-7037-E3D6-8ABD67463F1E}"/>
              </a:ext>
            </a:extLst>
          </p:cNvPr>
          <p:cNvSpPr/>
          <p:nvPr/>
        </p:nvSpPr>
        <p:spPr>
          <a:xfrm>
            <a:off x="4934712" y="944294"/>
            <a:ext cx="79249" cy="319336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F5BB299D-18B2-89FA-A4C2-F9ECB93AB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55" y="1017234"/>
            <a:ext cx="4328930" cy="37679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3">
            <a:extLst>
              <a:ext uri="{FF2B5EF4-FFF2-40B4-BE49-F238E27FC236}">
                <a16:creationId xmlns:a16="http://schemas.microsoft.com/office/drawing/2014/main" id="{607B7A4C-CFB6-C62F-88BA-B950A4B71333}"/>
              </a:ext>
            </a:extLst>
          </p:cNvPr>
          <p:cNvSpPr/>
          <p:nvPr/>
        </p:nvSpPr>
        <p:spPr>
          <a:xfrm>
            <a:off x="4709159" y="4343400"/>
            <a:ext cx="4114799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BD3B76A4-F604-51B0-028D-D0455907FCB2}"/>
              </a:ext>
            </a:extLst>
          </p:cNvPr>
          <p:cNvSpPr/>
          <p:nvPr/>
        </p:nvSpPr>
        <p:spPr>
          <a:xfrm>
            <a:off x="4709159" y="4343400"/>
            <a:ext cx="115536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DC4AF56B-6651-1A1B-B8A2-24ABE7E2BC4B}"/>
              </a:ext>
            </a:extLst>
          </p:cNvPr>
          <p:cNvSpPr/>
          <p:nvPr/>
        </p:nvSpPr>
        <p:spPr>
          <a:xfrm>
            <a:off x="274320" y="4361689"/>
            <a:ext cx="4114799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38DAD6EC-94AB-2DA3-CDE2-0D1B4FE76A2B}"/>
              </a:ext>
            </a:extLst>
          </p:cNvPr>
          <p:cNvSpPr/>
          <p:nvPr/>
        </p:nvSpPr>
        <p:spPr>
          <a:xfrm>
            <a:off x="274320" y="4361689"/>
            <a:ext cx="115536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4.4. Pipelines: Consultor </a:t>
            </a:r>
            <a:r>
              <a:rPr lang="en-US" sz="2200" b="1" dirty="0" err="1">
                <a:solidFill>
                  <a:srgbClr val="FFFFFF"/>
                </a:solidFill>
              </a:rPr>
              <a:t>MidiaCad</a:t>
            </a:r>
            <a:r>
              <a:rPr lang="en-US" sz="2200" b="1" dirty="0">
                <a:solidFill>
                  <a:srgbClr val="FFFFFF"/>
                </a:solidFill>
              </a:rPr>
              <a:t> — </a:t>
            </a:r>
            <a:r>
              <a:rPr lang="en-US" sz="2200" b="1" dirty="0" err="1">
                <a:solidFill>
                  <a:srgbClr val="FFFFFF"/>
                </a:solidFill>
              </a:rPr>
              <a:t>Nó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Construtor</a:t>
            </a:r>
            <a:endParaRPr lang="en-US" sz="220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167DD889-3CA2-F238-94FC-61237FCEAD63}"/>
              </a:ext>
            </a:extLst>
          </p:cNvPr>
          <p:cNvSpPr/>
          <p:nvPr/>
        </p:nvSpPr>
        <p:spPr>
          <a:xfrm>
            <a:off x="274320" y="914400"/>
            <a:ext cx="41148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4" name="Image 0" descr="/home/claude/fluxo_consultor_llm_interpretador_construtor.png">
            <a:extLst>
              <a:ext uri="{FF2B5EF4-FFF2-40B4-BE49-F238E27FC236}">
                <a16:creationId xmlns:a16="http://schemas.microsoft.com/office/drawing/2014/main" id="{CF96EC34-39AF-396D-7E92-17E68C6AC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10" y="960120"/>
            <a:ext cx="3390821" cy="3246120"/>
          </a:xfrm>
          <a:prstGeom prst="rect">
            <a:avLst/>
          </a:prstGeom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FE7B1B70-2CA2-0A37-BD64-307158B2B985}"/>
              </a:ext>
            </a:extLst>
          </p:cNvPr>
          <p:cNvSpPr/>
          <p:nvPr/>
        </p:nvSpPr>
        <p:spPr>
          <a:xfrm>
            <a:off x="389856" y="4361688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5F"/>
                </a:solidFill>
              </a:rPr>
              <a:t>Construtor — Configurações — </a:t>
            </a:r>
            <a:r>
              <a:rPr lang="en-US" sz="900" dirty="0">
                <a:solidFill>
                  <a:srgbClr val="1E293B"/>
                </a:solidFill>
              </a:rPr>
              <a:t>Agente LLM llama3.2:3b especialista em instruções operacionais. Sem contexto automático — recebe tudo via variáveis do Limpador</a:t>
            </a:r>
            <a:endParaRPr lang="en-US" sz="900" dirty="0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22579C76-BF1C-4E3E-85B5-69BAB9223CC9}"/>
              </a:ext>
            </a:extLst>
          </p:cNvPr>
          <p:cNvSpPr/>
          <p:nvPr/>
        </p:nvSpPr>
        <p:spPr>
          <a:xfrm>
            <a:off x="4709160" y="914400"/>
            <a:ext cx="41148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7" name="Image 1" descr="/home/claude/fluxo_consultor_llm_construtor_input.png">
            <a:extLst>
              <a:ext uri="{FF2B5EF4-FFF2-40B4-BE49-F238E27FC236}">
                <a16:creationId xmlns:a16="http://schemas.microsoft.com/office/drawing/2014/main" id="{73ED061D-E8A7-2173-CEA1-BDFE2FCED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864" y="960120"/>
            <a:ext cx="3601393" cy="3246120"/>
          </a:xfrm>
          <a:prstGeom prst="rect">
            <a:avLst/>
          </a:prstGeom>
        </p:spPr>
      </p:pic>
      <p:sp>
        <p:nvSpPr>
          <p:cNvPr id="18" name="Text 5">
            <a:extLst>
              <a:ext uri="{FF2B5EF4-FFF2-40B4-BE49-F238E27FC236}">
                <a16:creationId xmlns:a16="http://schemas.microsoft.com/office/drawing/2014/main" id="{8E0B5EA2-BE6C-9786-BF4A-69FDF53A6C76}"/>
              </a:ext>
            </a:extLst>
          </p:cNvPr>
          <p:cNvSpPr/>
          <p:nvPr/>
        </p:nvSpPr>
        <p:spPr>
          <a:xfrm>
            <a:off x="4824695" y="4361688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5F"/>
                </a:solidFill>
              </a:rPr>
              <a:t>Construtor — User Prompt — </a:t>
            </a:r>
            <a:r>
              <a:rPr lang="en-US" sz="900" dirty="0">
                <a:solidFill>
                  <a:srgbClr val="1E293B"/>
                </a:solidFill>
              </a:rPr>
              <a:t>Prompt com variáveis: pergunta_esclarecida, fonte_principal, fontes_complementares, texto_limpo, texto_original e codigos_detectados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96082B-F755-95AA-3EAB-C2A93EF22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C9961B-07C0-22E1-7FCE-854EE04DFFC7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AD831DE-FA28-704B-AA34-7F4DD90022BE}"/>
              </a:ext>
            </a:extLst>
          </p:cNvPr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4.5. Pipelines: Consultor </a:t>
            </a:r>
            <a:r>
              <a:rPr lang="en-US" sz="2200" b="1" dirty="0" err="1">
                <a:solidFill>
                  <a:srgbClr val="FFFFFF"/>
                </a:solidFill>
              </a:rPr>
              <a:t>MidiaCad</a:t>
            </a:r>
            <a:r>
              <a:rPr lang="en-US" sz="2200" b="1" dirty="0">
                <a:solidFill>
                  <a:srgbClr val="FFFFFF"/>
                </a:solidFill>
              </a:rPr>
              <a:t> — </a:t>
            </a:r>
            <a:r>
              <a:rPr lang="en-US" sz="2200" b="1" dirty="0" err="1">
                <a:solidFill>
                  <a:srgbClr val="FFFFFF"/>
                </a:solidFill>
              </a:rPr>
              <a:t>Nó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</a:rPr>
              <a:t>Resposta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2DB6619-1B6E-F560-7C6A-3D1F611F871C}"/>
              </a:ext>
            </a:extLst>
          </p:cNvPr>
          <p:cNvSpPr/>
          <p:nvPr/>
        </p:nvSpPr>
        <p:spPr>
          <a:xfrm>
            <a:off x="1645920" y="914400"/>
            <a:ext cx="58521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/home/claude/fluxo_consultor_resposta.png">
            <a:extLst>
              <a:ext uri="{FF2B5EF4-FFF2-40B4-BE49-F238E27FC236}">
                <a16:creationId xmlns:a16="http://schemas.microsoft.com/office/drawing/2014/main" id="{B916E9EE-06C4-09A8-5A82-BBBD4D78F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046" y="960120"/>
            <a:ext cx="5051909" cy="214884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791645A0-79F0-FD06-A04C-E0E6D674B3D5}"/>
              </a:ext>
            </a:extLst>
          </p:cNvPr>
          <p:cNvSpPr/>
          <p:nvPr/>
        </p:nvSpPr>
        <p:spPr>
          <a:xfrm>
            <a:off x="274320" y="33375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Nó Resposta — </a:t>
            </a:r>
            <a:r>
              <a:rPr lang="en-US" sz="950" dirty="0">
                <a:solidFill>
                  <a:srgbClr val="1E293B"/>
                </a:solidFill>
              </a:rPr>
              <a:t>Entrega final do pipeline: o campo ANSWER é preenchido com o texto gerado pelo nó Construtor (Construtor.text)</a:t>
            </a:r>
            <a:endParaRPr lang="en-US" sz="9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24433877-0FF5-A4BA-4276-04328A9CFE35}"/>
              </a:ext>
            </a:extLst>
          </p:cNvPr>
          <p:cNvSpPr/>
          <p:nvPr/>
        </p:nvSpPr>
        <p:spPr>
          <a:xfrm>
            <a:off x="274320" y="3794760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B5720BCB-52AB-F0E0-33ED-8A9D45116C1E}"/>
              </a:ext>
            </a:extLst>
          </p:cNvPr>
          <p:cNvSpPr/>
          <p:nvPr/>
        </p:nvSpPr>
        <p:spPr>
          <a:xfrm>
            <a:off x="274320" y="3794760"/>
            <a:ext cx="64008" cy="1234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EFB4573-55C3-5516-F3B9-8592436EE410}"/>
              </a:ext>
            </a:extLst>
          </p:cNvPr>
          <p:cNvSpPr/>
          <p:nvPr/>
        </p:nvSpPr>
        <p:spPr>
          <a:xfrm>
            <a:off x="429768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Papel no pipeline</a:t>
            </a:r>
            <a:endParaRPr lang="en-US" sz="12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D8CC715-D884-9679-B818-10E6FD779E69}"/>
              </a:ext>
            </a:extLst>
          </p:cNvPr>
          <p:cNvSpPr/>
          <p:nvPr/>
        </p:nvSpPr>
        <p:spPr>
          <a:xfrm>
            <a:off x="429768" y="41605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Último nó do fluxo. Recebe a variável text do Construtor e a entrega como resposta final ao usuário da aplicação.</a:t>
            </a:r>
            <a:endParaRPr lang="en-US" sz="10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E5C088A-758E-C28E-66AB-35BFA0A22389}"/>
              </a:ext>
            </a:extLst>
          </p:cNvPr>
          <p:cNvSpPr/>
          <p:nvPr/>
        </p:nvSpPr>
        <p:spPr>
          <a:xfrm>
            <a:off x="4709160" y="3794760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98AB25FE-14DD-60F3-2CD8-9631626DADEC}"/>
              </a:ext>
            </a:extLst>
          </p:cNvPr>
          <p:cNvSpPr/>
          <p:nvPr/>
        </p:nvSpPr>
        <p:spPr>
          <a:xfrm>
            <a:off x="4709160" y="3794760"/>
            <a:ext cx="64008" cy="1234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4F255DBC-787E-6E92-2F6C-FFA3DEF4DDD9}"/>
              </a:ext>
            </a:extLst>
          </p:cNvPr>
          <p:cNvSpPr/>
          <p:nvPr/>
        </p:nvSpPr>
        <p:spPr>
          <a:xfrm>
            <a:off x="4864608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Formato da resposta</a:t>
            </a:r>
            <a:endParaRPr lang="en-US" sz="1200" dirty="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3E43C3F4-403D-A451-3BAB-B170ACFB432A}"/>
              </a:ext>
            </a:extLst>
          </p:cNvPr>
          <p:cNvSpPr/>
          <p:nvPr/>
        </p:nvSpPr>
        <p:spPr>
          <a:xfrm>
            <a:off x="4864608" y="41605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Texto estruturado em passo a passo operacional, com base exclusivamente nos documentos técnicos recuperados.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980506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3">
            <a:extLst>
              <a:ext uri="{FF2B5EF4-FFF2-40B4-BE49-F238E27FC236}">
                <a16:creationId xmlns:a16="http://schemas.microsoft.com/office/drawing/2014/main" id="{89C9EE9C-2122-15D5-EEBA-B64B5F562B89}"/>
              </a:ext>
            </a:extLst>
          </p:cNvPr>
          <p:cNvSpPr/>
          <p:nvPr/>
        </p:nvSpPr>
        <p:spPr>
          <a:xfrm>
            <a:off x="274320" y="4389121"/>
            <a:ext cx="8595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A6E3B53F-66D2-7E9A-1310-70FD87647480}"/>
              </a:ext>
            </a:extLst>
          </p:cNvPr>
          <p:cNvSpPr/>
          <p:nvPr/>
        </p:nvSpPr>
        <p:spPr>
          <a:xfrm>
            <a:off x="274320" y="4389121"/>
            <a:ext cx="6096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4.6. Pipelines: Consultor PL 2338/2023 —  </a:t>
            </a:r>
            <a:r>
              <a:rPr lang="en-US" sz="2200" b="1" dirty="0" err="1">
                <a:solidFill>
                  <a:srgbClr val="FFFFFF"/>
                </a:solidFill>
              </a:rPr>
              <a:t>Visão</a:t>
            </a:r>
            <a:r>
              <a:rPr lang="en-US" sz="2200" b="1" dirty="0">
                <a:solidFill>
                  <a:srgbClr val="FFFFFF"/>
                </a:solidFill>
              </a:rPr>
              <a:t> Geral</a:t>
            </a:r>
            <a:endParaRPr lang="en-US" sz="22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74A759C1-9FE2-01E6-1749-57B343CDB94C}"/>
              </a:ext>
            </a:extLst>
          </p:cNvPr>
          <p:cNvSpPr/>
          <p:nvPr/>
        </p:nvSpPr>
        <p:spPr>
          <a:xfrm>
            <a:off x="274320" y="914400"/>
            <a:ext cx="85953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" name="Image 0" descr="/home/claude/fluxo_consultor_pl.png">
            <a:extLst>
              <a:ext uri="{FF2B5EF4-FFF2-40B4-BE49-F238E27FC236}">
                <a16:creationId xmlns:a16="http://schemas.microsoft.com/office/drawing/2014/main" id="{A79DE759-D76F-223D-A903-DD2E52D81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4231"/>
            <a:ext cx="8412480" cy="2417898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16AF68FD-F694-E2ED-CA23-599FCDEBD4F0}"/>
              </a:ext>
            </a:extLst>
          </p:cNvPr>
          <p:cNvSpPr/>
          <p:nvPr/>
        </p:nvSpPr>
        <p:spPr>
          <a:xfrm>
            <a:off x="274320" y="43891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Fluxo do Consultor PL 2338/2023 — </a:t>
            </a:r>
            <a:r>
              <a:rPr lang="en-US" sz="950" dirty="0">
                <a:solidFill>
                  <a:srgbClr val="1E293B"/>
                </a:solidFill>
              </a:rPr>
              <a:t>Pipeline paralelo: trilho superior sem RAG (LLM Normal) e trilho inferior com RAG (Recuperação + LLM RAG). Saída exibe ambas as respostas lado a lado para comparação.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3">
            <a:extLst>
              <a:ext uri="{FF2B5EF4-FFF2-40B4-BE49-F238E27FC236}">
                <a16:creationId xmlns:a16="http://schemas.microsoft.com/office/drawing/2014/main" id="{03D18036-8E65-EE00-FBF1-A960FAD6A0F6}"/>
              </a:ext>
            </a:extLst>
          </p:cNvPr>
          <p:cNvSpPr/>
          <p:nvPr/>
        </p:nvSpPr>
        <p:spPr>
          <a:xfrm>
            <a:off x="969264" y="3983270"/>
            <a:ext cx="7205472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B186FA75-AE14-B752-03C1-73E0B4DB7570}"/>
              </a:ext>
            </a:extLst>
          </p:cNvPr>
          <p:cNvSpPr/>
          <p:nvPr/>
        </p:nvSpPr>
        <p:spPr>
          <a:xfrm>
            <a:off x="969264" y="3983270"/>
            <a:ext cx="72874" cy="313479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B55B3B4D-D751-F436-9A20-8540A8FA8F16}"/>
              </a:ext>
            </a:extLst>
          </p:cNvPr>
          <p:cNvSpPr/>
          <p:nvPr/>
        </p:nvSpPr>
        <p:spPr>
          <a:xfrm>
            <a:off x="1396123" y="2429721"/>
            <a:ext cx="6333744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4.7. Pipelines: Consultor PL — </a:t>
            </a:r>
            <a:r>
              <a:rPr lang="en-US" sz="2200" b="1" dirty="0" err="1">
                <a:solidFill>
                  <a:srgbClr val="FFFFFF"/>
                </a:solidFill>
              </a:rPr>
              <a:t>Processamento</a:t>
            </a:r>
            <a:r>
              <a:rPr lang="en-US" sz="2200" b="1" dirty="0">
                <a:solidFill>
                  <a:srgbClr val="FFFFFF"/>
                </a:solidFill>
              </a:rPr>
              <a:t> de </a:t>
            </a:r>
            <a:r>
              <a:rPr lang="en-US" sz="2200" b="1" dirty="0" err="1">
                <a:solidFill>
                  <a:srgbClr val="FFFFFF"/>
                </a:solidFill>
              </a:rPr>
              <a:t>Conhecimento</a:t>
            </a:r>
            <a:endParaRPr lang="en-US" sz="220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37206F9B-DC8E-467E-5A8B-DE5710C26DF9}"/>
              </a:ext>
            </a:extLst>
          </p:cNvPr>
          <p:cNvSpPr/>
          <p:nvPr/>
        </p:nvSpPr>
        <p:spPr>
          <a:xfrm>
            <a:off x="274320" y="914400"/>
            <a:ext cx="8595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5" name="Image 0" descr="/home/claude/knowledge_settings_pl.png">
            <a:extLst>
              <a:ext uri="{FF2B5EF4-FFF2-40B4-BE49-F238E27FC236}">
                <a16:creationId xmlns:a16="http://schemas.microsoft.com/office/drawing/2014/main" id="{450DD283-2F79-E5BD-7838-956A35B49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409" y="960120"/>
            <a:ext cx="5095182" cy="1280160"/>
          </a:xfrm>
          <a:prstGeom prst="rect">
            <a:avLst/>
          </a:prstGeom>
        </p:spPr>
      </p:pic>
      <p:sp>
        <p:nvSpPr>
          <p:cNvPr id="16" name="Text 3">
            <a:extLst>
              <a:ext uri="{FF2B5EF4-FFF2-40B4-BE49-F238E27FC236}">
                <a16:creationId xmlns:a16="http://schemas.microsoft.com/office/drawing/2014/main" id="{C2B0AF95-64EB-39F1-F117-3A8D049556B9}"/>
              </a:ext>
            </a:extLst>
          </p:cNvPr>
          <p:cNvSpPr/>
          <p:nvPr/>
        </p:nvSpPr>
        <p:spPr>
          <a:xfrm>
            <a:off x="402197" y="2450592"/>
            <a:ext cx="833960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Knowledge Settings: PL 2338/2023 — </a:t>
            </a:r>
            <a:r>
              <a:rPr lang="en-US" sz="950" dirty="0">
                <a:solidFill>
                  <a:srgbClr val="1E293B"/>
                </a:solidFill>
              </a:rPr>
              <a:t>Nome e descrição da base de conhecimento dedicada ao Projeto de Lei de IA no Brasil</a:t>
            </a:r>
            <a:endParaRPr lang="en-US" sz="950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049806A9-8420-B325-17CB-91F2ADAD74F8}"/>
              </a:ext>
            </a:extLst>
          </p:cNvPr>
          <p:cNvSpPr/>
          <p:nvPr/>
        </p:nvSpPr>
        <p:spPr>
          <a:xfrm>
            <a:off x="274320" y="3324902"/>
            <a:ext cx="8595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8" name="Image 1" descr="/home/claude/knowledge_settings_pl_model.png">
            <a:extLst>
              <a:ext uri="{FF2B5EF4-FFF2-40B4-BE49-F238E27FC236}">
                <a16:creationId xmlns:a16="http://schemas.microsoft.com/office/drawing/2014/main" id="{B4DEDE7D-3738-ACDB-3188-4BDFA8A83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377183"/>
            <a:ext cx="8412480" cy="462365"/>
          </a:xfrm>
          <a:prstGeom prst="rect">
            <a:avLst/>
          </a:prstGeom>
        </p:spPr>
      </p:pic>
      <p:sp>
        <p:nvSpPr>
          <p:cNvPr id="19" name="Text 5">
            <a:extLst>
              <a:ext uri="{FF2B5EF4-FFF2-40B4-BE49-F238E27FC236}">
                <a16:creationId xmlns:a16="http://schemas.microsoft.com/office/drawing/2014/main" id="{A8DA1EAF-E1D5-4C70-99F6-15181D9C9273}"/>
              </a:ext>
            </a:extLst>
          </p:cNvPr>
          <p:cNvSpPr/>
          <p:nvPr/>
        </p:nvSpPr>
        <p:spPr>
          <a:xfrm>
            <a:off x="323088" y="398327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Embedding Model — </a:t>
            </a:r>
            <a:r>
              <a:rPr lang="en-US" sz="950" dirty="0">
                <a:solidFill>
                  <a:srgbClr val="1E293B"/>
                </a:solidFill>
              </a:rPr>
              <a:t>openai/text-embedding-3-small via OpenRouter — modelo </a:t>
            </a:r>
            <a:r>
              <a:rPr lang="en-US" sz="950" dirty="0" err="1">
                <a:solidFill>
                  <a:srgbClr val="1E293B"/>
                </a:solidFill>
              </a:rPr>
              <a:t>externo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escolhido</a:t>
            </a:r>
            <a:endParaRPr lang="en-US" sz="950" dirty="0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196D8733-C080-6665-B508-F93D5ECBB4E7}"/>
              </a:ext>
            </a:extLst>
          </p:cNvPr>
          <p:cNvSpPr/>
          <p:nvPr/>
        </p:nvSpPr>
        <p:spPr>
          <a:xfrm>
            <a:off x="1396123" y="2429721"/>
            <a:ext cx="72874" cy="313479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3">
            <a:extLst>
              <a:ext uri="{FF2B5EF4-FFF2-40B4-BE49-F238E27FC236}">
                <a16:creationId xmlns:a16="http://schemas.microsoft.com/office/drawing/2014/main" id="{108D8D5F-0504-B77C-22D5-B7BAB1611FCD}"/>
              </a:ext>
            </a:extLst>
          </p:cNvPr>
          <p:cNvSpPr/>
          <p:nvPr/>
        </p:nvSpPr>
        <p:spPr>
          <a:xfrm>
            <a:off x="228601" y="4324526"/>
            <a:ext cx="2743199" cy="541755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5C17411B-8F24-98D5-68C3-039B38A7C604}"/>
              </a:ext>
            </a:extLst>
          </p:cNvPr>
          <p:cNvSpPr/>
          <p:nvPr/>
        </p:nvSpPr>
        <p:spPr>
          <a:xfrm>
            <a:off x="3200400" y="4324526"/>
            <a:ext cx="2743199" cy="67724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C70A4D3E-AB3F-3D2F-4D4A-B49D08706D59}"/>
              </a:ext>
            </a:extLst>
          </p:cNvPr>
          <p:cNvSpPr/>
          <p:nvPr/>
        </p:nvSpPr>
        <p:spPr>
          <a:xfrm>
            <a:off x="6172201" y="4324526"/>
            <a:ext cx="2743199" cy="541755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679B5454-FABF-E198-2F01-6CA253EEE659}"/>
              </a:ext>
            </a:extLst>
          </p:cNvPr>
          <p:cNvSpPr/>
          <p:nvPr/>
        </p:nvSpPr>
        <p:spPr>
          <a:xfrm>
            <a:off x="6172200" y="4324526"/>
            <a:ext cx="79249" cy="54175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4.8. Pipelines: Consultor PL — </a:t>
            </a:r>
            <a:r>
              <a:rPr lang="en-US" sz="2200" b="1" dirty="0" err="1">
                <a:solidFill>
                  <a:srgbClr val="FFFFFF"/>
                </a:solidFill>
              </a:rPr>
              <a:t>Contexto</a:t>
            </a:r>
            <a:r>
              <a:rPr lang="en-US" sz="2200" b="1" dirty="0">
                <a:solidFill>
                  <a:srgbClr val="FFFFFF"/>
                </a:solidFill>
              </a:rPr>
              <a:t> · LLM Normal · LLM RAG</a:t>
            </a:r>
            <a:endParaRPr lang="en-US" sz="220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7FEC46B8-E5A2-446C-C806-5870C064876B}"/>
              </a:ext>
            </a:extLst>
          </p:cNvPr>
          <p:cNvSpPr/>
          <p:nvPr/>
        </p:nvSpPr>
        <p:spPr>
          <a:xfrm>
            <a:off x="228600" y="91440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4" name="Image 0" descr="/home/claude/fluxo_consultor_pl_knowledge.png">
            <a:extLst>
              <a:ext uri="{FF2B5EF4-FFF2-40B4-BE49-F238E27FC236}">
                <a16:creationId xmlns:a16="http://schemas.microsoft.com/office/drawing/2014/main" id="{8E95F88B-87E2-1910-82A1-154A24C53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2483"/>
            <a:ext cx="2560320" cy="1338515"/>
          </a:xfrm>
          <a:prstGeom prst="rect">
            <a:avLst/>
          </a:prstGeom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1BFC339C-9B5D-1B38-7A8B-3750210B1A6F}"/>
              </a:ext>
            </a:extLst>
          </p:cNvPr>
          <p:cNvSpPr/>
          <p:nvPr/>
        </p:nvSpPr>
        <p:spPr>
          <a:xfrm>
            <a:off x="307849" y="417880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B5F"/>
                </a:solidFill>
              </a:rPr>
              <a:t>Recuperação de Contexto — </a:t>
            </a:r>
            <a:r>
              <a:rPr lang="en-US" sz="850" dirty="0">
                <a:solidFill>
                  <a:srgbClr val="1E293B"/>
                </a:solidFill>
              </a:rPr>
              <a:t>Busca vetorial na base PL 2338/2023 via HQ·Vector. Query do usuário convertida em embedding e comparada ao documento indexado</a:t>
            </a:r>
            <a:endParaRPr lang="en-US" sz="850" dirty="0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6870327C-742B-B346-8A45-14D0E03B720F}"/>
              </a:ext>
            </a:extLst>
          </p:cNvPr>
          <p:cNvSpPr/>
          <p:nvPr/>
        </p:nvSpPr>
        <p:spPr>
          <a:xfrm>
            <a:off x="3200400" y="91440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7" name="Image 1" descr="/home/claude/fluxo_consultor_pl_llm_normal.png">
            <a:extLst>
              <a:ext uri="{FF2B5EF4-FFF2-40B4-BE49-F238E27FC236}">
                <a16:creationId xmlns:a16="http://schemas.microsoft.com/office/drawing/2014/main" id="{22470395-9281-813C-E193-2968FA862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7843" y="960120"/>
            <a:ext cx="2288313" cy="3063240"/>
          </a:xfrm>
          <a:prstGeom prst="rect">
            <a:avLst/>
          </a:prstGeom>
        </p:spPr>
      </p:pic>
      <p:sp>
        <p:nvSpPr>
          <p:cNvPr id="18" name="Text 5">
            <a:extLst>
              <a:ext uri="{FF2B5EF4-FFF2-40B4-BE49-F238E27FC236}">
                <a16:creationId xmlns:a16="http://schemas.microsoft.com/office/drawing/2014/main" id="{C4EBB7B8-42A8-06F6-DAC7-37E7903ACB83}"/>
              </a:ext>
            </a:extLst>
          </p:cNvPr>
          <p:cNvSpPr/>
          <p:nvPr/>
        </p:nvSpPr>
        <p:spPr>
          <a:xfrm>
            <a:off x="3279649" y="42291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B5F"/>
                </a:solidFill>
              </a:rPr>
              <a:t>LLM Normal (sem RAG) — </a:t>
            </a:r>
            <a:r>
              <a:rPr lang="en-US" sz="850" dirty="0">
                <a:solidFill>
                  <a:srgbClr val="1E293B"/>
                </a:solidFill>
              </a:rPr>
              <a:t>gemini-2.5-flash-lite sem contexto documental. Responde apenas com conhecimento pré-treinado — serve como baseline para comparação</a:t>
            </a:r>
            <a:endParaRPr lang="en-US" sz="850" dirty="0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5DBF338F-F215-A6BB-6DB6-7C0D42898858}"/>
              </a:ext>
            </a:extLst>
          </p:cNvPr>
          <p:cNvSpPr/>
          <p:nvPr/>
        </p:nvSpPr>
        <p:spPr>
          <a:xfrm>
            <a:off x="6172200" y="91440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0" name="Image 2" descr="/home/claude/fluxo_consultor_pl_llm_rag.png">
            <a:extLst>
              <a:ext uri="{FF2B5EF4-FFF2-40B4-BE49-F238E27FC236}">
                <a16:creationId xmlns:a16="http://schemas.microsoft.com/office/drawing/2014/main" id="{6F2109D9-F59B-EC34-7DCC-9B2C6790B3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4148" y="960120"/>
            <a:ext cx="2279304" cy="3063240"/>
          </a:xfrm>
          <a:prstGeom prst="rect">
            <a:avLst/>
          </a:prstGeom>
        </p:spPr>
      </p:pic>
      <p:sp>
        <p:nvSpPr>
          <p:cNvPr id="21" name="Text 7">
            <a:extLst>
              <a:ext uri="{FF2B5EF4-FFF2-40B4-BE49-F238E27FC236}">
                <a16:creationId xmlns:a16="http://schemas.microsoft.com/office/drawing/2014/main" id="{835258AB-035D-7F92-9C78-76CB9F0195EA}"/>
              </a:ext>
            </a:extLst>
          </p:cNvPr>
          <p:cNvSpPr/>
          <p:nvPr/>
        </p:nvSpPr>
        <p:spPr>
          <a:xfrm>
            <a:off x="6251449" y="417880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2B5F"/>
                </a:solidFill>
              </a:rPr>
              <a:t>LLM RAG — </a:t>
            </a:r>
            <a:r>
              <a:rPr lang="en-US" sz="850" dirty="0">
                <a:solidFill>
                  <a:srgbClr val="1E293B"/>
                </a:solidFill>
              </a:rPr>
              <a:t>gemini-2.5-flash-lite com contexto do Knowledge Retrieval. Modo de reprodução fiel: devolve o trecho exato do PL 2338/2023</a:t>
            </a:r>
            <a:endParaRPr lang="en-US" sz="850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EF8F422A-1742-6BBD-C775-387EB3081448}"/>
              </a:ext>
            </a:extLst>
          </p:cNvPr>
          <p:cNvSpPr/>
          <p:nvPr/>
        </p:nvSpPr>
        <p:spPr>
          <a:xfrm>
            <a:off x="228600" y="4324526"/>
            <a:ext cx="79249" cy="54175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454275A8-5F4E-B86A-63BC-13B581E69968}"/>
              </a:ext>
            </a:extLst>
          </p:cNvPr>
          <p:cNvSpPr/>
          <p:nvPr/>
        </p:nvSpPr>
        <p:spPr>
          <a:xfrm>
            <a:off x="3200399" y="4324526"/>
            <a:ext cx="79250" cy="67724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4.9. Pipelines: Consultor PL — </a:t>
            </a:r>
            <a:r>
              <a:rPr lang="en-US" sz="2200" b="1" dirty="0" err="1">
                <a:solidFill>
                  <a:srgbClr val="FFFFFF"/>
                </a:solidFill>
              </a:rPr>
              <a:t>Resposta</a:t>
            </a:r>
            <a:r>
              <a:rPr lang="en-US" sz="2200" b="1" dirty="0">
                <a:solidFill>
                  <a:srgbClr val="FFFFFF"/>
                </a:solidFill>
              </a:rPr>
              <a:t> LLM Normal vs. LLM RAG</a:t>
            </a:r>
            <a:endParaRPr lang="en-US" sz="220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3D39AE1C-96AA-412D-A0B5-22585BB63D29}"/>
              </a:ext>
            </a:extLst>
          </p:cNvPr>
          <p:cNvSpPr/>
          <p:nvPr/>
        </p:nvSpPr>
        <p:spPr>
          <a:xfrm>
            <a:off x="274320" y="914400"/>
            <a:ext cx="85953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5" name="Image 0" descr="/home/claude/fluxo_consultor_pl_saida.png">
            <a:extLst>
              <a:ext uri="{FF2B5EF4-FFF2-40B4-BE49-F238E27FC236}">
                <a16:creationId xmlns:a16="http://schemas.microsoft.com/office/drawing/2014/main" id="{DE1E65A2-8347-7422-CC7A-F687B27C4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3884" y="960120"/>
            <a:ext cx="4996231" cy="2788920"/>
          </a:xfrm>
          <a:prstGeom prst="rect">
            <a:avLst/>
          </a:prstGeom>
        </p:spPr>
      </p:pic>
      <p:sp>
        <p:nvSpPr>
          <p:cNvPr id="16" name="Text 3">
            <a:extLst>
              <a:ext uri="{FF2B5EF4-FFF2-40B4-BE49-F238E27FC236}">
                <a16:creationId xmlns:a16="http://schemas.microsoft.com/office/drawing/2014/main" id="{69AB91F1-3F05-2FB6-D6F2-87EC4BC03F1F}"/>
              </a:ext>
            </a:extLst>
          </p:cNvPr>
          <p:cNvSpPr/>
          <p:nvPr/>
        </p:nvSpPr>
        <p:spPr>
          <a:xfrm>
            <a:off x="274320" y="391363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Nó Resposta — </a:t>
            </a:r>
            <a:r>
              <a:rPr lang="en-US" sz="950" dirty="0">
                <a:solidFill>
                  <a:srgbClr val="1E293B"/>
                </a:solidFill>
              </a:rPr>
              <a:t>Exibe "RESPOSTA LLM NORMAL" e "RESPOSTA LLM (RAG)" separadas por linha divisória, permitindo comparação direta entre resposta sem e com grounding documental</a:t>
            </a:r>
            <a:endParaRPr lang="en-US" sz="950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DD07D410-BA41-18E1-5F19-6B8F38CA589E}"/>
              </a:ext>
            </a:extLst>
          </p:cNvPr>
          <p:cNvSpPr/>
          <p:nvPr/>
        </p:nvSpPr>
        <p:spPr>
          <a:xfrm>
            <a:off x="274320" y="4434840"/>
            <a:ext cx="4206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D4AA047D-DF06-200D-5AC4-2AB1C15D8FB4}"/>
              </a:ext>
            </a:extLst>
          </p:cNvPr>
          <p:cNvSpPr/>
          <p:nvPr/>
        </p:nvSpPr>
        <p:spPr>
          <a:xfrm>
            <a:off x="274320" y="4434840"/>
            <a:ext cx="64008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1A460DA9-BC31-965B-449E-C14D7940EA89}"/>
              </a:ext>
            </a:extLst>
          </p:cNvPr>
          <p:cNvSpPr/>
          <p:nvPr/>
        </p:nvSpPr>
        <p:spPr>
          <a:xfrm>
            <a:off x="429768" y="44622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</a:rPr>
              <a:t>LLM Normal (sem RAG)</a:t>
            </a:r>
            <a:endParaRPr lang="en-US" sz="10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DDA4E669-BFC9-B0E6-2EBE-ED1CAE9E6D45}"/>
              </a:ext>
            </a:extLst>
          </p:cNvPr>
          <p:cNvSpPr/>
          <p:nvPr/>
        </p:nvSpPr>
        <p:spPr>
          <a:xfrm>
            <a:off x="429768" y="46908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Resposta baseada no conhecimento pré-treinado. Pode não refletir o texto exato do PL 2338/2023.</a:t>
            </a:r>
            <a:endParaRPr lang="en-US" sz="900" dirty="0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E515C96E-B973-9C31-55E2-51F7AB3EE5A2}"/>
              </a:ext>
            </a:extLst>
          </p:cNvPr>
          <p:cNvSpPr/>
          <p:nvPr/>
        </p:nvSpPr>
        <p:spPr>
          <a:xfrm>
            <a:off x="4709160" y="4434840"/>
            <a:ext cx="4206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FC6A7610-E70B-D4D7-7475-9C177CBF1EA0}"/>
              </a:ext>
            </a:extLst>
          </p:cNvPr>
          <p:cNvSpPr/>
          <p:nvPr/>
        </p:nvSpPr>
        <p:spPr>
          <a:xfrm>
            <a:off x="4709160" y="4434840"/>
            <a:ext cx="64008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F4B12335-463D-D0A7-3840-85DDF48982AD}"/>
              </a:ext>
            </a:extLst>
          </p:cNvPr>
          <p:cNvSpPr/>
          <p:nvPr/>
        </p:nvSpPr>
        <p:spPr>
          <a:xfrm>
            <a:off x="4864608" y="44622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</a:rPr>
              <a:t>LLM com RAG</a:t>
            </a:r>
            <a:endParaRPr lang="en-US" sz="1000" dirty="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8BAFBC57-DA9A-A1CC-9275-E4411411789B}"/>
              </a:ext>
            </a:extLst>
          </p:cNvPr>
          <p:cNvSpPr/>
          <p:nvPr/>
        </p:nvSpPr>
        <p:spPr>
          <a:xfrm>
            <a:off x="4864608" y="46908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Reprodução do trecho do PL 2338/2023 recuperado da base. Alta fidelidade ao documento oficial.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4">
            <a:extLst>
              <a:ext uri="{FF2B5EF4-FFF2-40B4-BE49-F238E27FC236}">
                <a16:creationId xmlns:a16="http://schemas.microsoft.com/office/drawing/2014/main" id="{1F4B9DF3-31E6-5032-0A04-7FE5350B093C}"/>
              </a:ext>
            </a:extLst>
          </p:cNvPr>
          <p:cNvSpPr/>
          <p:nvPr/>
        </p:nvSpPr>
        <p:spPr>
          <a:xfrm>
            <a:off x="274320" y="4315968"/>
            <a:ext cx="8595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4.10. Pipelines: Consultor de </a:t>
            </a:r>
            <a:r>
              <a:rPr lang="en-US" sz="2200" b="1" dirty="0" err="1">
                <a:solidFill>
                  <a:srgbClr val="FFFFFF"/>
                </a:solidFill>
              </a:rPr>
              <a:t>Melhoria</a:t>
            </a:r>
            <a:r>
              <a:rPr lang="en-US" sz="2200" b="1" dirty="0">
                <a:solidFill>
                  <a:srgbClr val="FFFFFF"/>
                </a:solidFill>
              </a:rPr>
              <a:t> de TR — Trabalho Relacionado</a:t>
            </a:r>
            <a:endParaRPr lang="en-US" sz="2200" dirty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0D1B37B9-C04E-32D9-243A-3D7461FD4485}"/>
              </a:ext>
            </a:extLst>
          </p:cNvPr>
          <p:cNvSpPr/>
          <p:nvPr/>
        </p:nvSpPr>
        <p:spPr>
          <a:xfrm>
            <a:off x="274320" y="914400"/>
            <a:ext cx="85953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8" name="Image 0" descr="/home/claude/fluxo_consultor_melhoria.png">
            <a:extLst>
              <a:ext uri="{FF2B5EF4-FFF2-40B4-BE49-F238E27FC236}">
                <a16:creationId xmlns:a16="http://schemas.microsoft.com/office/drawing/2014/main" id="{0DE8A30B-A3A6-AFA1-9EFA-C73104E70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6531"/>
            <a:ext cx="8412480" cy="2701858"/>
          </a:xfrm>
          <a:prstGeom prst="rect">
            <a:avLst/>
          </a:prstGeom>
        </p:spPr>
      </p:pic>
      <p:sp>
        <p:nvSpPr>
          <p:cNvPr id="19" name="Text 3">
            <a:extLst>
              <a:ext uri="{FF2B5EF4-FFF2-40B4-BE49-F238E27FC236}">
                <a16:creationId xmlns:a16="http://schemas.microsoft.com/office/drawing/2014/main" id="{7E757352-26A1-6E8E-8B3A-F13048A92FF1}"/>
              </a:ext>
            </a:extLst>
          </p:cNvPr>
          <p:cNvSpPr/>
          <p:nvPr/>
        </p:nvSpPr>
        <p:spPr>
          <a:xfrm>
            <a:off x="306324" y="431596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5F"/>
                </a:solidFill>
              </a:rPr>
              <a:t>Fluxo do Agente de Auditoria de TR — </a:t>
            </a:r>
            <a:r>
              <a:rPr lang="en-US" sz="950" dirty="0">
                <a:solidFill>
                  <a:srgbClr val="1E293B"/>
                </a:solidFill>
              </a:rPr>
              <a:t>Pipeline multi-agente: Entrada TR + Extrator de Texto + Recuperação de Contexto (Lei 14.133/2021) → Analista Técnico + Auditor de Risco + Consultor de Melhoria (Gemini 2.5) → Agente Carteiro (MCP / e-mail) → Resumo do Processo</a:t>
            </a:r>
            <a:endParaRPr lang="en-US" sz="950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338EF15D-AE51-3697-4EA1-56370A0AD76C}"/>
              </a:ext>
            </a:extLst>
          </p:cNvPr>
          <p:cNvSpPr/>
          <p:nvPr/>
        </p:nvSpPr>
        <p:spPr>
          <a:xfrm>
            <a:off x="274320" y="4315968"/>
            <a:ext cx="6400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4CAAE0-CC3D-3F80-7E7C-B8F772EB3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E2442C2-2361-91CA-DF96-D44C3120F604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B8C390-1A79-4F64-BCAA-6FC289D4A49F}"/>
              </a:ext>
            </a:extLst>
          </p:cNvPr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5. </a:t>
            </a:r>
            <a:r>
              <a:rPr lang="en-US" sz="2200" b="1" dirty="0" err="1">
                <a:solidFill>
                  <a:srgbClr val="FFFFFF"/>
                </a:solidFill>
              </a:rPr>
              <a:t>Perguntas</a:t>
            </a:r>
            <a:r>
              <a:rPr lang="en-US" sz="2200" b="1" dirty="0">
                <a:solidFill>
                  <a:srgbClr val="FFFFFF"/>
                </a:solidFill>
              </a:rPr>
              <a:t>: Consultor </a:t>
            </a:r>
            <a:r>
              <a:rPr lang="en-US" sz="2200" b="1" dirty="0" err="1">
                <a:solidFill>
                  <a:srgbClr val="FFFFFF"/>
                </a:solidFill>
              </a:rPr>
              <a:t>MidiaCad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endParaRPr lang="en-US" sz="22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AB8E2DC-5011-CEC8-1B2A-3010C50FFC70}"/>
              </a:ext>
            </a:extLst>
          </p:cNvPr>
          <p:cNvSpPr/>
          <p:nvPr/>
        </p:nvSpPr>
        <p:spPr>
          <a:xfrm>
            <a:off x="783626" y="1218257"/>
            <a:ext cx="6589630" cy="990457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4AF2683-FA3B-BDCA-2E25-3FDA30F660DE}"/>
              </a:ext>
            </a:extLst>
          </p:cNvPr>
          <p:cNvSpPr/>
          <p:nvPr/>
        </p:nvSpPr>
        <p:spPr>
          <a:xfrm>
            <a:off x="783626" y="1218257"/>
            <a:ext cx="116190" cy="990457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86C20DC-B344-A67C-EE28-577E8442A241}"/>
              </a:ext>
            </a:extLst>
          </p:cNvPr>
          <p:cNvSpPr/>
          <p:nvPr/>
        </p:nvSpPr>
        <p:spPr>
          <a:xfrm>
            <a:off x="1098731" y="1366810"/>
            <a:ext cx="4982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1A2B5F"/>
                </a:solidFill>
              </a:rPr>
              <a:t>Alterar</a:t>
            </a:r>
            <a:r>
              <a:rPr lang="en-US" sz="1600" b="1" dirty="0">
                <a:solidFill>
                  <a:srgbClr val="1A2B5F"/>
                </a:solidFill>
              </a:rPr>
              <a:t> Tipo de </a:t>
            </a:r>
            <a:r>
              <a:rPr lang="en-US" sz="1600" b="1" dirty="0" err="1">
                <a:solidFill>
                  <a:srgbClr val="1A2B5F"/>
                </a:solidFill>
              </a:rPr>
              <a:t>Representante</a:t>
            </a:r>
            <a:r>
              <a:rPr lang="en-US" sz="1600" b="1" dirty="0">
                <a:solidFill>
                  <a:srgbClr val="1A2B5F"/>
                </a:solidFill>
              </a:rPr>
              <a:t> do </a:t>
            </a:r>
            <a:r>
              <a:rPr lang="en-US" sz="1600" b="1" dirty="0" err="1">
                <a:solidFill>
                  <a:srgbClr val="1A2B5F"/>
                </a:solidFill>
              </a:rPr>
              <a:t>Veiculo</a:t>
            </a:r>
            <a:endParaRPr lang="en-US" sz="16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8290A86-BFC8-B168-6EDB-B6CC85DACD55}"/>
              </a:ext>
            </a:extLst>
          </p:cNvPr>
          <p:cNvSpPr/>
          <p:nvPr/>
        </p:nvSpPr>
        <p:spPr>
          <a:xfrm>
            <a:off x="1098731" y="1686850"/>
            <a:ext cx="4982754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Como </a:t>
            </a:r>
            <a:r>
              <a:rPr lang="en-US" sz="1600" dirty="0" err="1">
                <a:solidFill>
                  <a:srgbClr val="1E293B"/>
                </a:solidFill>
              </a:rPr>
              <a:t>faço</a:t>
            </a:r>
            <a:r>
              <a:rPr lang="en-US" sz="1600" dirty="0">
                <a:solidFill>
                  <a:srgbClr val="1E293B"/>
                </a:solidFill>
              </a:rPr>
              <a:t> para </a:t>
            </a:r>
            <a:r>
              <a:rPr lang="en-US" sz="1600" dirty="0" err="1">
                <a:solidFill>
                  <a:srgbClr val="1E293B"/>
                </a:solidFill>
              </a:rPr>
              <a:t>alterar</a:t>
            </a:r>
            <a:r>
              <a:rPr lang="en-US" sz="1600" dirty="0">
                <a:solidFill>
                  <a:srgbClr val="1E293B"/>
                </a:solidFill>
              </a:rPr>
              <a:t> o </a:t>
            </a:r>
            <a:r>
              <a:rPr lang="en-US" sz="1600" dirty="0" err="1">
                <a:solidFill>
                  <a:srgbClr val="1E293B"/>
                </a:solidFill>
              </a:rPr>
              <a:t>tipo</a:t>
            </a:r>
            <a:r>
              <a:rPr lang="en-US" sz="1600" dirty="0">
                <a:solidFill>
                  <a:srgbClr val="1E293B"/>
                </a:solidFill>
              </a:rPr>
              <a:t> de </a:t>
            </a:r>
            <a:r>
              <a:rPr lang="en-US" sz="1600" dirty="0" err="1">
                <a:solidFill>
                  <a:srgbClr val="1E293B"/>
                </a:solidFill>
              </a:rPr>
              <a:t>representante</a:t>
            </a:r>
            <a:r>
              <a:rPr lang="en-US" sz="1600" dirty="0">
                <a:solidFill>
                  <a:srgbClr val="1E293B"/>
                </a:solidFill>
              </a:rPr>
              <a:t> do </a:t>
            </a:r>
            <a:r>
              <a:rPr lang="en-US" sz="1600" dirty="0" err="1">
                <a:solidFill>
                  <a:srgbClr val="1E293B"/>
                </a:solidFill>
              </a:rPr>
              <a:t>veículo</a:t>
            </a:r>
            <a:r>
              <a:rPr lang="en-US" sz="1600" dirty="0">
                <a:solidFill>
                  <a:srgbClr val="1E293B"/>
                </a:solidFill>
              </a:rPr>
              <a:t>?</a:t>
            </a:r>
            <a:endParaRPr lang="en-US" sz="160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3932DDC1-145A-A211-51C3-957FFB7340FA}"/>
              </a:ext>
            </a:extLst>
          </p:cNvPr>
          <p:cNvSpPr/>
          <p:nvPr/>
        </p:nvSpPr>
        <p:spPr>
          <a:xfrm>
            <a:off x="783626" y="2860187"/>
            <a:ext cx="6589631" cy="990457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9A0392F4-62FB-BBA0-7C86-ECDBC6513C9B}"/>
              </a:ext>
            </a:extLst>
          </p:cNvPr>
          <p:cNvSpPr/>
          <p:nvPr/>
        </p:nvSpPr>
        <p:spPr>
          <a:xfrm>
            <a:off x="783627" y="2860187"/>
            <a:ext cx="116190" cy="990457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D71EB737-B8D9-B25E-4A5F-99FD40FAF31C}"/>
              </a:ext>
            </a:extLst>
          </p:cNvPr>
          <p:cNvSpPr/>
          <p:nvPr/>
        </p:nvSpPr>
        <p:spPr>
          <a:xfrm>
            <a:off x="1098731" y="2951627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1A2B5F"/>
                </a:solidFill>
              </a:rPr>
              <a:t>Cadastro</a:t>
            </a:r>
            <a:r>
              <a:rPr lang="en-US" sz="1600" b="1" dirty="0">
                <a:solidFill>
                  <a:srgbClr val="1A2B5F"/>
                </a:solidFill>
              </a:rPr>
              <a:t> de </a:t>
            </a:r>
            <a:r>
              <a:rPr lang="en-US" sz="1600" b="1" dirty="0" err="1">
                <a:solidFill>
                  <a:srgbClr val="1A2B5F"/>
                </a:solidFill>
              </a:rPr>
              <a:t>Entidades</a:t>
            </a:r>
            <a:endParaRPr lang="en-US" sz="16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CA69B3FB-2222-5A03-C76F-C31F920B1BA9}"/>
              </a:ext>
            </a:extLst>
          </p:cNvPr>
          <p:cNvSpPr/>
          <p:nvPr/>
        </p:nvSpPr>
        <p:spPr>
          <a:xfrm>
            <a:off x="1098731" y="3271667"/>
            <a:ext cx="5084202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Como </a:t>
            </a:r>
            <a:r>
              <a:rPr lang="en-US" sz="1600" dirty="0" err="1">
                <a:solidFill>
                  <a:srgbClr val="1E293B"/>
                </a:solidFill>
              </a:rPr>
              <a:t>faço</a:t>
            </a:r>
            <a:r>
              <a:rPr lang="en-US" sz="1600" dirty="0">
                <a:solidFill>
                  <a:srgbClr val="1E293B"/>
                </a:solidFill>
              </a:rPr>
              <a:t> o </a:t>
            </a:r>
            <a:r>
              <a:rPr lang="en-US" sz="1600" dirty="0" err="1">
                <a:solidFill>
                  <a:srgbClr val="1E293B"/>
                </a:solidFill>
              </a:rPr>
              <a:t>cadastro</a:t>
            </a:r>
            <a:r>
              <a:rPr lang="en-US" sz="1600" dirty="0">
                <a:solidFill>
                  <a:srgbClr val="1E293B"/>
                </a:solidFill>
              </a:rPr>
              <a:t> de </a:t>
            </a:r>
            <a:r>
              <a:rPr lang="en-US" sz="1600" dirty="0" err="1">
                <a:solidFill>
                  <a:srgbClr val="1E293B"/>
                </a:solidFill>
              </a:rPr>
              <a:t>entidades</a:t>
            </a:r>
            <a:r>
              <a:rPr lang="en-US" sz="1600" dirty="0">
                <a:solidFill>
                  <a:srgbClr val="1E293B"/>
                </a:solidFill>
              </a:rPr>
              <a:t> no Sistema </a:t>
            </a:r>
            <a:r>
              <a:rPr lang="en-US" sz="1600" dirty="0" err="1">
                <a:solidFill>
                  <a:srgbClr val="1E293B"/>
                </a:solidFill>
              </a:rPr>
              <a:t>MidiaCad</a:t>
            </a:r>
            <a:r>
              <a:rPr lang="en-US" sz="1600" dirty="0">
                <a:solidFill>
                  <a:srgbClr val="1E293B"/>
                </a:solidFill>
              </a:rPr>
              <a:t>?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193853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C140F2-807F-67C4-B114-4F8338A24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6633AD8-1BE3-A08B-8104-E74DD5B24691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74030B-868E-0A9C-3A5E-06935A18BB21}"/>
              </a:ext>
            </a:extLst>
          </p:cNvPr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5.1. </a:t>
            </a:r>
            <a:r>
              <a:rPr lang="en-US" sz="2200" b="1" dirty="0" err="1">
                <a:solidFill>
                  <a:srgbClr val="FFFFFF"/>
                </a:solidFill>
              </a:rPr>
              <a:t>Perguntas</a:t>
            </a:r>
            <a:r>
              <a:rPr lang="en-US" sz="2200" b="1" dirty="0">
                <a:solidFill>
                  <a:srgbClr val="FFFFFF"/>
                </a:solidFill>
              </a:rPr>
              <a:t>: PL 2338/2023</a:t>
            </a:r>
            <a:endParaRPr lang="en-US" sz="2200" dirty="0"/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71A63D7F-C880-294D-8638-406CFFAA9E0E}"/>
              </a:ext>
            </a:extLst>
          </p:cNvPr>
          <p:cNvSpPr/>
          <p:nvPr/>
        </p:nvSpPr>
        <p:spPr>
          <a:xfrm>
            <a:off x="783626" y="1218257"/>
            <a:ext cx="6589630" cy="10650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31" name="Shape 5">
            <a:extLst>
              <a:ext uri="{FF2B5EF4-FFF2-40B4-BE49-F238E27FC236}">
                <a16:creationId xmlns:a16="http://schemas.microsoft.com/office/drawing/2014/main" id="{D69C25FA-18B0-2954-87E9-3136556F709B}"/>
              </a:ext>
            </a:extLst>
          </p:cNvPr>
          <p:cNvSpPr/>
          <p:nvPr/>
        </p:nvSpPr>
        <p:spPr>
          <a:xfrm>
            <a:off x="783626" y="1218257"/>
            <a:ext cx="116190" cy="10650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9667788E-6EA1-B7D2-1D83-34630986D024}"/>
              </a:ext>
            </a:extLst>
          </p:cNvPr>
          <p:cNvSpPr/>
          <p:nvPr/>
        </p:nvSpPr>
        <p:spPr>
          <a:xfrm>
            <a:off x="1098731" y="1366810"/>
            <a:ext cx="4982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1A2B5F"/>
                </a:solidFill>
              </a:rPr>
              <a:t>Fundamentos</a:t>
            </a:r>
            <a:r>
              <a:rPr lang="en-US" sz="1600" b="1" dirty="0">
                <a:solidFill>
                  <a:srgbClr val="1A2B5F"/>
                </a:solidFill>
              </a:rPr>
              <a:t> de I.A. no </a:t>
            </a:r>
            <a:r>
              <a:rPr lang="en-US" sz="1600" b="1" dirty="0" err="1">
                <a:solidFill>
                  <a:srgbClr val="1A2B5F"/>
                </a:solidFill>
              </a:rPr>
              <a:t>Brasil</a:t>
            </a:r>
            <a:endParaRPr lang="en-US" sz="160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BD9CAB0B-248C-9E2D-93E5-5A8FD44F7DCF}"/>
              </a:ext>
            </a:extLst>
          </p:cNvPr>
          <p:cNvSpPr/>
          <p:nvPr/>
        </p:nvSpPr>
        <p:spPr>
          <a:xfrm>
            <a:off x="1098730" y="1686850"/>
            <a:ext cx="6274525" cy="521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E293B"/>
                </a:solidFill>
              </a:rPr>
              <a:t>Quais </a:t>
            </a:r>
            <a:r>
              <a:rPr lang="en-US" sz="1600" dirty="0" err="1">
                <a:solidFill>
                  <a:srgbClr val="1E293B"/>
                </a:solidFill>
              </a:rPr>
              <a:t>são</a:t>
            </a:r>
            <a:r>
              <a:rPr lang="en-US" sz="1600" dirty="0">
                <a:solidFill>
                  <a:srgbClr val="1E293B"/>
                </a:solidFill>
              </a:rPr>
              <a:t> </a:t>
            </a:r>
            <a:r>
              <a:rPr lang="en-US" sz="1600" dirty="0" err="1">
                <a:solidFill>
                  <a:srgbClr val="1E293B"/>
                </a:solidFill>
              </a:rPr>
              <a:t>os</a:t>
            </a:r>
            <a:r>
              <a:rPr lang="en-US" sz="1600" dirty="0">
                <a:solidFill>
                  <a:srgbClr val="1E293B"/>
                </a:solidFill>
              </a:rPr>
              <a:t> </a:t>
            </a:r>
            <a:r>
              <a:rPr lang="en-US" sz="1600" dirty="0" err="1">
                <a:solidFill>
                  <a:srgbClr val="1E293B"/>
                </a:solidFill>
              </a:rPr>
              <a:t>fundamentos</a:t>
            </a:r>
            <a:r>
              <a:rPr lang="en-US" sz="1600" dirty="0">
                <a:solidFill>
                  <a:srgbClr val="1E293B"/>
                </a:solidFill>
              </a:rPr>
              <a:t> para </a:t>
            </a:r>
            <a:r>
              <a:rPr lang="en-US" sz="1600" dirty="0" err="1">
                <a:solidFill>
                  <a:srgbClr val="1E293B"/>
                </a:solidFill>
              </a:rPr>
              <a:t>desenvolvimento</a:t>
            </a:r>
            <a:r>
              <a:rPr lang="en-US" sz="1600" dirty="0">
                <a:solidFill>
                  <a:srgbClr val="1E293B"/>
                </a:solidFill>
              </a:rPr>
              <a:t> da </a:t>
            </a:r>
            <a:r>
              <a:rPr lang="en-US" sz="1600" dirty="0" err="1">
                <a:solidFill>
                  <a:srgbClr val="1E293B"/>
                </a:solidFill>
              </a:rPr>
              <a:t>inteligência</a:t>
            </a:r>
            <a:r>
              <a:rPr lang="en-US" sz="1600" dirty="0">
                <a:solidFill>
                  <a:srgbClr val="1E293B"/>
                </a:solidFill>
              </a:rPr>
              <a:t> artificial no </a:t>
            </a:r>
            <a:r>
              <a:rPr lang="en-US" sz="1600" dirty="0" err="1">
                <a:solidFill>
                  <a:srgbClr val="1E293B"/>
                </a:solidFill>
              </a:rPr>
              <a:t>Brasil</a:t>
            </a:r>
            <a:r>
              <a:rPr lang="en-US" sz="1600" dirty="0">
                <a:solidFill>
                  <a:srgbClr val="1E293B"/>
                </a:solidFill>
              </a:rPr>
              <a:t>?</a:t>
            </a:r>
            <a:endParaRPr lang="en-US" sz="1600" dirty="0"/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F91D77BF-990C-9A9A-54F3-7C263A8D58DB}"/>
              </a:ext>
            </a:extLst>
          </p:cNvPr>
          <p:cNvSpPr/>
          <p:nvPr/>
        </p:nvSpPr>
        <p:spPr>
          <a:xfrm>
            <a:off x="783626" y="2860187"/>
            <a:ext cx="6589631" cy="10650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83FE0D10-C85C-E9E1-966B-9D2C364F81FB}"/>
              </a:ext>
            </a:extLst>
          </p:cNvPr>
          <p:cNvSpPr/>
          <p:nvPr/>
        </p:nvSpPr>
        <p:spPr>
          <a:xfrm>
            <a:off x="783627" y="2860187"/>
            <a:ext cx="116190" cy="10650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A7438133-6077-1578-408E-FF5C3B47C5AC}"/>
              </a:ext>
            </a:extLst>
          </p:cNvPr>
          <p:cNvSpPr/>
          <p:nvPr/>
        </p:nvSpPr>
        <p:spPr>
          <a:xfrm>
            <a:off x="1098731" y="2951627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1A2B5F"/>
                </a:solidFill>
              </a:rPr>
              <a:t>Direitos</a:t>
            </a:r>
            <a:r>
              <a:rPr lang="en-US" sz="1600" b="1" dirty="0">
                <a:solidFill>
                  <a:srgbClr val="1A2B5F"/>
                </a:solidFill>
              </a:rPr>
              <a:t> da Pessoa </a:t>
            </a:r>
            <a:r>
              <a:rPr lang="en-US" sz="1600" b="1" dirty="0" err="1">
                <a:solidFill>
                  <a:srgbClr val="1A2B5F"/>
                </a:solidFill>
              </a:rPr>
              <a:t>afetada</a:t>
            </a:r>
            <a:r>
              <a:rPr lang="en-US" sz="1600" b="1" dirty="0">
                <a:solidFill>
                  <a:srgbClr val="1A2B5F"/>
                </a:solidFill>
              </a:rPr>
              <a:t> pro I.A.</a:t>
            </a:r>
            <a:endParaRPr lang="en-US" sz="1600" dirty="0"/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4D3BAEC5-C636-6C17-9792-80FC1E653F22}"/>
              </a:ext>
            </a:extLst>
          </p:cNvPr>
          <p:cNvSpPr/>
          <p:nvPr/>
        </p:nvSpPr>
        <p:spPr>
          <a:xfrm>
            <a:off x="1098731" y="3271666"/>
            <a:ext cx="6172926" cy="578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E293B"/>
                </a:solidFill>
              </a:rPr>
              <a:t>Quais </a:t>
            </a:r>
            <a:r>
              <a:rPr lang="en-US" sz="1600" dirty="0" err="1">
                <a:solidFill>
                  <a:srgbClr val="1E293B"/>
                </a:solidFill>
              </a:rPr>
              <a:t>são</a:t>
            </a:r>
            <a:r>
              <a:rPr lang="en-US" sz="1600" dirty="0">
                <a:solidFill>
                  <a:srgbClr val="1E293B"/>
                </a:solidFill>
              </a:rPr>
              <a:t> </a:t>
            </a:r>
            <a:r>
              <a:rPr lang="en-US" sz="1600" dirty="0" err="1">
                <a:solidFill>
                  <a:srgbClr val="1E293B"/>
                </a:solidFill>
              </a:rPr>
              <a:t>os</a:t>
            </a:r>
            <a:r>
              <a:rPr lang="en-US" sz="1600" dirty="0">
                <a:solidFill>
                  <a:srgbClr val="1E293B"/>
                </a:solidFill>
              </a:rPr>
              <a:t> </a:t>
            </a:r>
            <a:r>
              <a:rPr lang="en-US" sz="1600" dirty="0" err="1">
                <a:solidFill>
                  <a:srgbClr val="1E293B"/>
                </a:solidFill>
              </a:rPr>
              <a:t>direitos</a:t>
            </a:r>
            <a:r>
              <a:rPr lang="en-US" sz="1600" dirty="0">
                <a:solidFill>
                  <a:srgbClr val="1E293B"/>
                </a:solidFill>
              </a:rPr>
              <a:t> </a:t>
            </a:r>
            <a:r>
              <a:rPr lang="en-US" sz="1600" dirty="0" err="1">
                <a:solidFill>
                  <a:srgbClr val="1E293B"/>
                </a:solidFill>
              </a:rPr>
              <a:t>que</a:t>
            </a:r>
            <a:r>
              <a:rPr lang="en-US" sz="1600" dirty="0">
                <a:solidFill>
                  <a:srgbClr val="1E293B"/>
                </a:solidFill>
              </a:rPr>
              <a:t> </a:t>
            </a:r>
            <a:r>
              <a:rPr lang="en-US" sz="1600" dirty="0" err="1">
                <a:solidFill>
                  <a:srgbClr val="1E293B"/>
                </a:solidFill>
              </a:rPr>
              <a:t>uma</a:t>
            </a:r>
            <a:r>
              <a:rPr lang="en-US" sz="1600" dirty="0">
                <a:solidFill>
                  <a:srgbClr val="1E293B"/>
                </a:solidFill>
              </a:rPr>
              <a:t> </a:t>
            </a:r>
            <a:r>
              <a:rPr lang="en-US" sz="1600" dirty="0" err="1">
                <a:solidFill>
                  <a:srgbClr val="1E293B"/>
                </a:solidFill>
              </a:rPr>
              <a:t>pessoa</a:t>
            </a:r>
            <a:r>
              <a:rPr lang="en-US" sz="1600" dirty="0">
                <a:solidFill>
                  <a:srgbClr val="1E293B"/>
                </a:solidFill>
              </a:rPr>
              <a:t> </a:t>
            </a:r>
            <a:r>
              <a:rPr lang="en-US" sz="1600" dirty="0" err="1">
                <a:solidFill>
                  <a:srgbClr val="1E293B"/>
                </a:solidFill>
              </a:rPr>
              <a:t>afetada</a:t>
            </a:r>
            <a:r>
              <a:rPr lang="en-US" sz="1600" dirty="0">
                <a:solidFill>
                  <a:srgbClr val="1E293B"/>
                </a:solidFill>
              </a:rPr>
              <a:t> </a:t>
            </a:r>
            <a:r>
              <a:rPr lang="en-US" sz="1600" dirty="0" err="1">
                <a:solidFill>
                  <a:srgbClr val="1E293B"/>
                </a:solidFill>
              </a:rPr>
              <a:t>por</a:t>
            </a:r>
            <a:r>
              <a:rPr lang="en-US" sz="1600" dirty="0">
                <a:solidFill>
                  <a:srgbClr val="1E293B"/>
                </a:solidFill>
              </a:rPr>
              <a:t> </a:t>
            </a:r>
            <a:r>
              <a:rPr lang="en-US" sz="1600" dirty="0" err="1">
                <a:solidFill>
                  <a:srgbClr val="1E293B"/>
                </a:solidFill>
              </a:rPr>
              <a:t>sistemas</a:t>
            </a:r>
            <a:r>
              <a:rPr lang="en-US" sz="1600" dirty="0">
                <a:solidFill>
                  <a:srgbClr val="1E293B"/>
                </a:solidFill>
              </a:rPr>
              <a:t> de </a:t>
            </a:r>
            <a:r>
              <a:rPr lang="en-US" sz="1600" dirty="0" err="1">
                <a:solidFill>
                  <a:srgbClr val="1E293B"/>
                </a:solidFill>
              </a:rPr>
              <a:t>inteligência</a:t>
            </a:r>
            <a:r>
              <a:rPr lang="en-US" sz="1600" dirty="0">
                <a:solidFill>
                  <a:srgbClr val="1E293B"/>
                </a:solidFill>
              </a:rPr>
              <a:t> artificial </a:t>
            </a:r>
            <a:r>
              <a:rPr lang="en-US" sz="1600" dirty="0" err="1">
                <a:solidFill>
                  <a:srgbClr val="1E293B"/>
                </a:solidFill>
              </a:rPr>
              <a:t>tem</a:t>
            </a:r>
            <a:r>
              <a:rPr lang="en-US" sz="1600" dirty="0">
                <a:solidFill>
                  <a:srgbClr val="1E293B"/>
                </a:solidFill>
              </a:rPr>
              <a:t> no </a:t>
            </a:r>
            <a:r>
              <a:rPr lang="en-US" sz="1600" dirty="0" err="1">
                <a:solidFill>
                  <a:srgbClr val="1E293B"/>
                </a:solidFill>
              </a:rPr>
              <a:t>Brasil</a:t>
            </a:r>
            <a:r>
              <a:rPr lang="en-US" sz="1600" dirty="0">
                <a:solidFill>
                  <a:srgbClr val="1E293B"/>
                </a:solidFill>
              </a:rPr>
              <a:t>?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038633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23. Experimentos e Resultados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F"/>
                </a:solidFill>
              </a:rPr>
              <a:t>Setup Experimental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</a:rPr>
              <a:t>LLM: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14173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llama3.2:3b (Ollama local)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47672"/>
            <a:ext cx="85953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9" name="Text 7"/>
          <p:cNvSpPr/>
          <p:nvPr/>
        </p:nvSpPr>
        <p:spPr>
          <a:xfrm>
            <a:off x="411480" y="19933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</a:rPr>
              <a:t>Embedding: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19933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qwen3-embedding:4b (MidiaCad)  ·  </a:t>
            </a:r>
            <a:r>
              <a:rPr lang="en-US" sz="1100" dirty="0" err="1">
                <a:solidFill>
                  <a:srgbClr val="1E293B"/>
                </a:solidFill>
              </a:rPr>
              <a:t>openai</a:t>
            </a:r>
            <a:r>
              <a:rPr lang="en-US" sz="1100" dirty="0">
                <a:solidFill>
                  <a:srgbClr val="1E293B"/>
                </a:solidFill>
              </a:rPr>
              <a:t>/text-embedding-3-large (PL)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523744"/>
            <a:ext cx="85953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11480" y="25694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</a:rPr>
              <a:t>Reranker: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56946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BAAI/bge-reranker-v2-m3 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99816"/>
            <a:ext cx="85953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11480" y="31455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</a:rPr>
              <a:t>Chunking: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314553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Máx. 3.200 chars · Overlap 500 · Delimitador \n\n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675888"/>
            <a:ext cx="85953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11480" y="37216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</a:rPr>
              <a:t>Retrieval: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372160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Top K=4 · Score Threshold=0,4 · Vector Search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6. Riscos e Limitações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64008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29768" y="1033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Alucinações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34416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Modelos de 3 bilhões de parâmetros têm capacidade de raciocínio limitada e podem gerar respostas incorretas.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64008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864608" y="1033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Precisão em passos detalhados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64608" y="134416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Instruções operacionais com muitas etapas podem ser geradas com imprecisões pelo modelo.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6400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29768" y="2359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Guard-rail implementado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" y="267004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Para </a:t>
            </a:r>
            <a:r>
              <a:rPr lang="en-US" sz="1000" dirty="0" err="1">
                <a:solidFill>
                  <a:srgbClr val="1E293B"/>
                </a:solidFill>
              </a:rPr>
              <a:t>ações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  <a:r>
              <a:rPr lang="en-US" sz="1000" dirty="0" err="1">
                <a:solidFill>
                  <a:srgbClr val="1E293B"/>
                </a:solidFill>
              </a:rPr>
              <a:t>que</a:t>
            </a:r>
            <a:r>
              <a:rPr lang="en-US" sz="1000" dirty="0">
                <a:solidFill>
                  <a:srgbClr val="1E293B"/>
                </a:solidFill>
              </a:rPr>
              <a:t> a I.A. </a:t>
            </a:r>
            <a:r>
              <a:rPr lang="en-US" sz="1000" dirty="0" err="1">
                <a:solidFill>
                  <a:srgbClr val="1E293B"/>
                </a:solidFill>
              </a:rPr>
              <a:t>não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  <a:r>
              <a:rPr lang="en-US" sz="1000" dirty="0" err="1">
                <a:solidFill>
                  <a:srgbClr val="1E293B"/>
                </a:solidFill>
              </a:rPr>
              <a:t>possui</a:t>
            </a:r>
            <a:r>
              <a:rPr lang="en-US" sz="1000" dirty="0">
                <a:solidFill>
                  <a:srgbClr val="1E293B"/>
                </a:solidFill>
              </a:rPr>
              <a:t> </a:t>
            </a:r>
            <a:r>
              <a:rPr lang="en-US" sz="1000" dirty="0" err="1">
                <a:solidFill>
                  <a:srgbClr val="1E293B"/>
                </a:solidFill>
              </a:rPr>
              <a:t>certeza</a:t>
            </a:r>
            <a:r>
              <a:rPr lang="en-US" sz="1000" dirty="0">
                <a:solidFill>
                  <a:srgbClr val="1E293B"/>
                </a:solidFill>
              </a:rPr>
              <a:t> pela </a:t>
            </a:r>
            <a:r>
              <a:rPr lang="en-US" sz="1000" dirty="0" err="1">
                <a:solidFill>
                  <a:srgbClr val="1E293B"/>
                </a:solidFill>
              </a:rPr>
              <a:t>recuperação</a:t>
            </a:r>
            <a:r>
              <a:rPr lang="en-US" sz="1000" dirty="0">
                <a:solidFill>
                  <a:srgbClr val="1E293B"/>
                </a:solidFill>
              </a:rPr>
              <a:t> de </a:t>
            </a:r>
            <a:r>
              <a:rPr lang="en-US" sz="1000" dirty="0" err="1">
                <a:solidFill>
                  <a:srgbClr val="1E293B"/>
                </a:solidFill>
              </a:rPr>
              <a:t>contexto</a:t>
            </a:r>
            <a:r>
              <a:rPr lang="en-US" sz="1000" dirty="0">
                <a:solidFill>
                  <a:srgbClr val="1E293B"/>
                </a:solidFill>
              </a:rPr>
              <a:t>, o sistema exibe aviso: "Necessário consultar profissional da </a:t>
            </a:r>
            <a:r>
              <a:rPr lang="en-US" sz="1000" dirty="0" err="1">
                <a:solidFill>
                  <a:srgbClr val="1E293B"/>
                </a:solidFill>
              </a:rPr>
              <a:t>área</a:t>
            </a:r>
            <a:r>
              <a:rPr lang="en-US" sz="1000" dirty="0">
                <a:solidFill>
                  <a:srgbClr val="1E293B"/>
                </a:solidFill>
              </a:rPr>
              <a:t> ".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28600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709160" y="2286000"/>
            <a:ext cx="6400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864608" y="2359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Cobertura documental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64608" y="267004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O sistema responde com base nos documentos indexados. Lacunas na base resultam em respostas incompletas.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274320" y="3611880"/>
            <a:ext cx="64008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29768" y="3685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Hardware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" y="399592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Modelos maiores (ex: qwen3.5:27b) requerem GPU dedicada. O llama3.2:3b opera em CPU com latência aceitável.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61188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709160" y="3611880"/>
            <a:ext cx="64008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864608" y="3685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F"/>
                </a:solidFill>
              </a:rPr>
              <a:t>Privacidade vs. Qualidade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64608" y="399592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 opção por modelos locais garante privacidade dos dados, mas limita a qualidade frente a modelos proprietários.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6.1. Conclusão e Trabalhos Futuros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3474720"/>
          </a:xfrm>
          <a:prstGeom prst="rect">
            <a:avLst/>
          </a:prstGeom>
          <a:solidFill>
            <a:srgbClr val="162347"/>
          </a:solidFill>
          <a:ln w="952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B3FF"/>
                </a:solidFill>
              </a:rPr>
              <a:t>Contribuições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Pipeline RAG multi-agente local e privado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Agente Interpretador de intenção do usuário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560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Limpador de siglas para normalização de contexto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3108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Comparativo LLM Normal vs. RAG para consulta jurídica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6576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Processamento sem dependência de APIs externas pagas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114800" cy="3474720"/>
          </a:xfrm>
          <a:prstGeom prst="rect">
            <a:avLst/>
          </a:prstGeom>
          <a:solidFill>
            <a:srgbClr val="162347"/>
          </a:solidFill>
          <a:ln w="952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937760" y="1005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B3FF"/>
                </a:solidFill>
              </a:rPr>
              <a:t>Próximos Passos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Implantação via chatbot no WhatsApp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Desenvolvimento de aplicação web ou app mobile com acesso por API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2560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Expansão da base documental para outros sistemas da Administração Pública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3108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Testes com modelos de maior capacidade (GPU dedicada)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36576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Avaliação quantitativa formal (ex: RAGAS, BERTScore)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1764</Words>
  <Application>Microsoft Office PowerPoint</Application>
  <PresentationFormat>On-screen Show (16:9)</PresentationFormat>
  <Paragraphs>216</Paragraphs>
  <Slides>27</Slides>
  <Notes>26</Notes>
  <HiddenSlides>1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Consultor Inteligente de Sistemas</dc:title>
  <dc:subject>PptxGenJS Presentation</dc:subject>
  <dc:creator>PptxGenJS</dc:creator>
  <cp:lastModifiedBy>Wanjo Christopher Paraizo Escobar</cp:lastModifiedBy>
  <cp:revision>8</cp:revision>
  <dcterms:created xsi:type="dcterms:W3CDTF">2026-04-10T14:19:05Z</dcterms:created>
  <dcterms:modified xsi:type="dcterms:W3CDTF">2026-04-10T22:29:40Z</dcterms:modified>
</cp:coreProperties>
</file>